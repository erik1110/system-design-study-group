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today we're designing a search autocomplete system — the feature that pops up suggestions as you type in a Google or Amazon search box. It's also called typeahead, search-as-you-type, or incremental search; in interviews it's sometimes phrased as 'Design Top K.' The key thing to remember: every keystroke fires a request and we must return ranked suggestions, so latency and ranking are the heart of this problem. We'll walk the book's four steps: clarify requirements, high-level design, deep dive, and wrap-up.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step is always to ask questions and pin down requirements. Here are the five key ones. First, fast response: the Facebook typeahead article notes you need results in about 100 milliseconds or users feel lag. Second, relevance: we only match the start of the query — no middle matching, no spell check. Third, sorted: rank by historical query frequency and return the top 5. The last two are non-functional: scalable and highly available. You can add: we assume all-English, all-lowercase, no special characters, to keep scope tight.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a quick estimate to show you can reason about scale. Assume 10 million daily active users, each searching 10 times a day. The key insight: every character typed sends a request, so a 6-character query sends 6 requests — averaging about 20 requests per search. That works out to roughly 24,000 QPS, and we assume peak is double, around 48,000. For storage, if 20% of queries are new, we add about 0.4GB per day. These don't need to be precise; the point is to show the interviewer you can derive numbers from users times behavior times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high-level design splits into two parts. On the left, the Data Gathering service collects user input and builds the 'query-to-frequency' table. Stress one trade-off: updating in real time on every query isn't practical at scale, so in practice we move to periodic batch processing. On the right, the Query Service takes a prefix and returns the top 5. The simplest first version is a single SQL statement: LIKE 'prefix%', ORDER BY frequency, LIMIT 5. Fine for small data, but at scale hitting the database directly is the bottleneck — which sets up the star of the next slide: the Trie.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Trie is the core of the system — a prefix tree. It breaks strings character by character: the root is the empty string, and each level down adds one character, so every node maps to exactly one prefix. To support ranking, we also store frequency on the nodes. Look at the diagram: a user types 'tr'. The algorithm first finds the 'tr' node — that's O(p) — then walks down to gather all candidates, O(c), and finally sorts to take the top k, O(c log c). In this tree, under 'tr' we have tree:10, try:29, true:35, so the top two are true and try. The problem: worst case you walk the entire subtree, which is too slow — so the next slide optimizes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optimizations take the query from 'possibly walking the whole tree' down to O(1). First, limit prefix length: users rarely type very long strings, so cap p at a small constant like 50, and 'find prefix' becomes roughly constant time. Second, and the key one — cache the top 5 hottest queries directly on every node, so we never have to walk the subtree; we just read them off. This is the classic 'trade space for time,' because for autocomplete response speed matters most. Put together: find prefix O(1) plus read cache O(1), so the overall query is O(1).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make the Data Gathering service scalable. First, why not update in real time: users type billions of queries a day, and updating the Trie on each one would cripple the query service; plus hot suggestions don't change much short-term, so there's no need. So we switch to an offline batch pipeline: analytics logs store raw queries — append-only, no index — then aggregators roll frequency up into one row per week, workers asynchronously build the Trie, it's saved to Trie DB for persistence, and loaded into the in-memory Trie Cache for fast reads. The book assumes a weekly rebuild; in an interview, ask whether real-time matters — something like Twitter needs much shorter aggregation windows. One implementation note: Trie DB can be a key-value store, with the prefix as the key and the node's Top K as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query read path: a request hits the load balancer, gets routed to an API server, which pulls data from the Trie Cache to build suggestions. Only on a cache miss — say the cache machine is out of memory or offline — do we fall back to Trie DB, and we backfill the cache on the way. Then three front-end speedups: first, AJAX — the browser fetches suggestions without reloading the whole page. Second, browser caching — suggestions don't change much short-term, so cache them client-side; Google caches results for an hour via a max-age=3600 header. Third, data sampling — logging every single query is expensive, so log 1 in every N requests to save a lot of compute and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Trie operations. Create: workers build it from aggregated data, sourced from the analytics logs. Update has two ways — option one is rebuilding the whole tree weekly and swapping out the old one, which is preferred; option two is updating a single node, but since ancestor nodes store the Top K beneath them, changing one node means updating all the way up to the root, which is slow and only fine for very small Tries. Delete: hateful, violent, or explicit suggestions must be removable — the approach is a filter layer in front of the Trie Cache to block them in real time, plus asynchronously deleting from the database so the next rebuild uses clean data. The nice thing about the filter layer is the rules can be adjusted flexibly.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Trie grows too big for one machine, we shard. The simplest idea is by first letter: two servers split a–m and n–z, you can go up to 26, and sub-shard further like aa–ag if needed. But there's a trap — letter distribution is uneven; far more words start with 'c' than 'x,' so an even split badly skews load. The fix is smart sharding: analyze the historical query distribution and have a shard-map manager keep a lookup table deciding where each row lives. For example, 's' alone if it's heavy, 'u' through 'z' combined if they're light. The diagram shows the web servers first asking the manager 'which shard?' then fetching from that shard.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and follow-up questions — usually the bonus round at the end of an interview. First, how to support multiple languages? Change the characters stored in nodes from the 26 English letters to Unicode, covering all writing systems. Second, what if hot queries differ by country? Build a separate Trie per country and put it in a CDN to cut latency. Third, the hardest — how to support real-time trends, like breaking news making a query suddenly viral. The weekly-rebuild design can't keep up, so the ideas are: shrink the working set with sharding, reweight the ranking model toward recent queries, and switch to stream processing like Kafka or Spark Streaming. Close with one line: the two things to remember are — Trie plus per-node Top K cache gives O(1) queries, and offline batch rebuild plus caching gives scalability.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868680"/>
            <a:ext cx="5486400" cy="658368"/>
          </a:xfrm>
          <a:prstGeom prst="roundRect">
            <a:avLst>
              <a:gd name="adj" fmla="val 50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2148840" y="1051560"/>
            <a:ext cx="310896" cy="310896"/>
          </a:xfrm>
          <a:prstGeom prst="rect">
            <a:avLst/>
          </a:prstGeom>
        </p:spPr>
      </p:pic>
      <p:sp>
        <p:nvSpPr>
          <p:cNvPr id="4" name="Text 1"/>
          <p:cNvSpPr/>
          <p:nvPr/>
        </p:nvSpPr>
        <p:spPr>
          <a:xfrm>
            <a:off x="2606040" y="868680"/>
            <a:ext cx="4389120" cy="658368"/>
          </a:xfrm>
          <a:prstGeom prst="rect">
            <a:avLst/>
          </a:prstGeom>
          <a:noFill/>
          <a:ln/>
        </p:spPr>
        <p:txBody>
          <a:bodyPr wrap="square" rtlCol="0" anchor="ctr"/>
          <a:lstStyle/>
          <a:p>
            <a:pPr indent="0" marL="0">
              <a:buNone/>
            </a:pPr>
            <a:r>
              <a:rPr lang="en-US" sz="2000" b="1" dirty="0">
                <a:solidFill>
                  <a:srgbClr val="2B2B2B"/>
                </a:solidFill>
                <a:latin typeface="Arial" pitchFamily="34" charset="0"/>
                <a:ea typeface="Arial" pitchFamily="34" charset="-122"/>
                <a:cs typeface="Arial" pitchFamily="34" charset="-120"/>
              </a:rPr>
              <a:t>din</a:t>
            </a:r>
            <a:pPr indent="0" marL="0">
              <a:buNone/>
            </a:pPr>
            <a:r>
              <a:rPr lang="en-US" sz="2000" dirty="0">
                <a:solidFill>
                  <a:srgbClr val="6B7280"/>
                </a:solidFill>
                <a:latin typeface="Arial" pitchFamily="34" charset="0"/>
                <a:ea typeface="Arial" pitchFamily="34" charset="-122"/>
                <a:cs typeface="Arial" pitchFamily="34" charset="-120"/>
              </a:rPr>
              <a:t>ner ideas…</a:t>
            </a:r>
            <a:endParaRPr lang="en-US" sz="2000" dirty="0"/>
          </a:p>
        </p:txBody>
      </p:sp>
      <p:sp>
        <p:nvSpPr>
          <p:cNvPr id="5" name="Text 2"/>
          <p:cNvSpPr/>
          <p:nvPr/>
        </p:nvSpPr>
        <p:spPr>
          <a:xfrm>
            <a:off x="457200" y="1828800"/>
            <a:ext cx="8229600" cy="1463040"/>
          </a:xfrm>
          <a:prstGeom prst="rect">
            <a:avLst/>
          </a:prstGeom>
          <a:noFill/>
          <a:ln/>
        </p:spPr>
        <p:txBody>
          <a:bodyPr wrap="square" rtlCol="0" anchor="ctr"/>
          <a:lstStyle/>
          <a:p>
            <a:pPr algn="ctr" indent="0" marL="0">
              <a:lnSpc>
                <a:spcPct val="100000"/>
              </a:lnSpc>
              <a:buNone/>
            </a:pPr>
            <a:r>
              <a:rPr lang="en-US" sz="4000" b="1" dirty="0">
                <a:solidFill>
                  <a:srgbClr val="FFFFFF"/>
                </a:solidFill>
                <a:latin typeface="Arial" pitchFamily="34" charset="0"/>
                <a:ea typeface="Arial" pitchFamily="34" charset="-122"/>
                <a:cs typeface="Arial" pitchFamily="34" charset="-120"/>
              </a:rPr>
              <a:t>Design a Search</a:t>
            </a:r>
            <a:endParaRPr lang="en-US" sz="4000" dirty="0"/>
          </a:p>
          <a:p>
            <a:pPr algn="ctr" indent="0" marL="0">
              <a:lnSpc>
                <a:spcPct val="100000"/>
              </a:lnSpc>
              <a:buNone/>
            </a:pPr>
            <a:r>
              <a:rPr lang="en-US" sz="4000" b="1" dirty="0">
                <a:solidFill>
                  <a:srgbClr val="FFFFFF"/>
                </a:solidFill>
                <a:latin typeface="Arial" pitchFamily="34" charset="0"/>
                <a:ea typeface="Arial" pitchFamily="34" charset="-122"/>
                <a:cs typeface="Arial" pitchFamily="34" charset="-120"/>
              </a:rPr>
              <a:t>Autocomplete System</a:t>
            </a:r>
            <a:endParaRPr lang="en-US" sz="4000" dirty="0"/>
          </a:p>
        </p:txBody>
      </p:sp>
      <p:sp>
        <p:nvSpPr>
          <p:cNvPr id="6" name="Text 3"/>
          <p:cNvSpPr/>
          <p:nvPr/>
        </p:nvSpPr>
        <p:spPr>
          <a:xfrm>
            <a:off x="457200" y="3429000"/>
            <a:ext cx="8229600" cy="457200"/>
          </a:xfrm>
          <a:prstGeom prst="rect">
            <a:avLst/>
          </a:prstGeom>
          <a:noFill/>
          <a:ln/>
        </p:spPr>
        <p:txBody>
          <a:bodyPr wrap="square" rtlCol="0" anchor="ctr"/>
          <a:lstStyle/>
          <a:p>
            <a:pPr algn="ctr" indent="0" marL="0">
              <a:buNone/>
            </a:pPr>
            <a:r>
              <a:rPr lang="en-US" sz="1700" dirty="0">
                <a:solidFill>
                  <a:srgbClr val="CADCFC"/>
                </a:solidFill>
                <a:latin typeface="Arial" pitchFamily="34" charset="0"/>
                <a:ea typeface="Arial" pitchFamily="34" charset="-122"/>
                <a:cs typeface="Arial" pitchFamily="34" charset="-120"/>
              </a:rPr>
              <a:t>Typeahead / search-as-you-type — the "Top K" problem</a:t>
            </a:r>
            <a:endParaRPr lang="en-US" sz="1700" dirty="0"/>
          </a:p>
        </p:txBody>
      </p:sp>
      <p:sp>
        <p:nvSpPr>
          <p:cNvPr id="7" name="Text 4"/>
          <p:cNvSpPr/>
          <p:nvPr/>
        </p:nvSpPr>
        <p:spPr>
          <a:xfrm>
            <a:off x="457200" y="4297680"/>
            <a:ext cx="8229600" cy="365760"/>
          </a:xfrm>
          <a:prstGeom prst="rect">
            <a:avLst/>
          </a:prstGeom>
          <a:noFill/>
          <a:ln/>
        </p:spPr>
        <p:txBody>
          <a:bodyPr wrap="square" rtlCol="0" anchor="ctr"/>
          <a:lstStyle/>
          <a:p>
            <a:pPr algn="ctr" indent="0" marL="0">
              <a:buNone/>
            </a:pPr>
            <a:r>
              <a:rPr lang="en-US" sz="1300" dirty="0">
                <a:solidFill>
                  <a:srgbClr val="CADCFC"/>
                </a:solidFill>
                <a:latin typeface="Arial" pitchFamily="34" charset="0"/>
                <a:ea typeface="Arial" pitchFamily="34" charset="-122"/>
                <a:cs typeface="Arial" pitchFamily="34" charset="-120"/>
              </a:rPr>
              <a:t>Key takeaways — System Design Interview, Chapter 13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3000" b="1" dirty="0">
                <a:solidFill>
                  <a:srgbClr val="1E2761"/>
                </a:solidFill>
                <a:latin typeface="Arial" pitchFamily="34" charset="0"/>
                <a:ea typeface="Arial" pitchFamily="34" charset="-122"/>
                <a:cs typeface="Arial" pitchFamily="34" charset="-120"/>
              </a:rPr>
              <a:t>Step 1 — Clarify the Requirements</a:t>
            </a:r>
            <a:endParaRPr lang="en-US" sz="3000" dirty="0"/>
          </a:p>
        </p:txBody>
      </p:sp>
      <p:sp>
        <p:nvSpPr>
          <p:cNvPr id="3" name="Shape 1"/>
          <p:cNvSpPr/>
          <p:nvPr/>
        </p:nvSpPr>
        <p:spPr>
          <a:xfrm>
            <a:off x="640080" y="1143000"/>
            <a:ext cx="502920" cy="502920"/>
          </a:xfrm>
          <a:prstGeom prst="ellipse">
            <a:avLst/>
          </a:prstGeom>
          <a:solidFill>
            <a:srgbClr val="EAF1FD"/>
          </a:solidFill>
          <a:ln/>
        </p:spPr>
      </p:sp>
      <p:pic>
        <p:nvPicPr>
          <p:cNvPr id="4" name="Image 0" descr="preencoded.png">    </p:cNvPr>
          <p:cNvPicPr>
            <a:picLocks noChangeAspect="1"/>
          </p:cNvPicPr>
          <p:nvPr/>
        </p:nvPicPr>
        <p:blipFill>
          <a:blip r:embed="rId1"/>
          <a:stretch>
            <a:fillRect/>
          </a:stretch>
        </p:blipFill>
        <p:spPr>
          <a:xfrm>
            <a:off x="765810" y="1268730"/>
            <a:ext cx="251460" cy="251460"/>
          </a:xfrm>
          <a:prstGeom prst="rect">
            <a:avLst/>
          </a:prstGeom>
        </p:spPr>
      </p:pic>
      <p:sp>
        <p:nvSpPr>
          <p:cNvPr id="5" name="Text 2"/>
          <p:cNvSpPr/>
          <p:nvPr/>
        </p:nvSpPr>
        <p:spPr>
          <a:xfrm>
            <a:off x="1325880" y="1124712"/>
            <a:ext cx="2103120" cy="548640"/>
          </a:xfrm>
          <a:prstGeom prst="rect">
            <a:avLst/>
          </a:prstGeom>
          <a:noFill/>
          <a:ln/>
        </p:spPr>
        <p:txBody>
          <a:bodyPr wrap="square" rtlCol="0" anchor="ctr"/>
          <a:lstStyle/>
          <a:p>
            <a:pPr indent="0" marL="0">
              <a:buNone/>
            </a:pPr>
            <a:r>
              <a:rPr lang="en-US" sz="1700" b="1" dirty="0">
                <a:solidFill>
                  <a:srgbClr val="1E2761"/>
                </a:solidFill>
                <a:latin typeface="Arial" pitchFamily="34" charset="0"/>
                <a:ea typeface="Arial" pitchFamily="34" charset="-122"/>
                <a:cs typeface="Arial" pitchFamily="34" charset="-120"/>
              </a:rPr>
              <a:t>Fast</a:t>
            </a:r>
            <a:endParaRPr lang="en-US" sz="1700" dirty="0"/>
          </a:p>
        </p:txBody>
      </p:sp>
      <p:sp>
        <p:nvSpPr>
          <p:cNvPr id="6" name="Text 3"/>
          <p:cNvSpPr/>
          <p:nvPr/>
        </p:nvSpPr>
        <p:spPr>
          <a:xfrm>
            <a:off x="3474720" y="1124712"/>
            <a:ext cx="5212080" cy="548640"/>
          </a:xfrm>
          <a:prstGeom prst="rect">
            <a:avLst/>
          </a:prstGeom>
          <a:noFill/>
          <a:ln/>
        </p:spPr>
        <p:txBody>
          <a:bodyPr wrap="square" rtlCol="0" anchor="ctr"/>
          <a:lstStyle/>
          <a:p>
            <a:pPr indent="0" marL="0">
              <a:buNone/>
            </a:pPr>
            <a:r>
              <a:rPr lang="en-US" sz="1400" dirty="0">
                <a:solidFill>
                  <a:srgbClr val="2B2B2B"/>
                </a:solidFill>
                <a:latin typeface="Arial" pitchFamily="34" charset="0"/>
                <a:ea typeface="Arial" pitchFamily="34" charset="-122"/>
                <a:cs typeface="Arial" pitchFamily="34" charset="-120"/>
              </a:rPr>
              <a:t>Return results within ~100ms, or it feels laggy</a:t>
            </a:r>
            <a:endParaRPr lang="en-US" sz="1400" dirty="0"/>
          </a:p>
        </p:txBody>
      </p:sp>
      <p:sp>
        <p:nvSpPr>
          <p:cNvPr id="7" name="Shape 4"/>
          <p:cNvSpPr/>
          <p:nvPr/>
        </p:nvSpPr>
        <p:spPr>
          <a:xfrm>
            <a:off x="640080" y="1901952"/>
            <a:ext cx="502920" cy="502920"/>
          </a:xfrm>
          <a:prstGeom prst="ellipse">
            <a:avLst/>
          </a:prstGeom>
          <a:solidFill>
            <a:srgbClr val="EAF1FD"/>
          </a:solidFill>
          <a:ln/>
        </p:spPr>
      </p:sp>
      <p:pic>
        <p:nvPicPr>
          <p:cNvPr id="8" name="Image 1" descr="preencoded.png">    </p:cNvPr>
          <p:cNvPicPr>
            <a:picLocks noChangeAspect="1"/>
          </p:cNvPicPr>
          <p:nvPr/>
        </p:nvPicPr>
        <p:blipFill>
          <a:blip r:embed="rId2"/>
          <a:stretch>
            <a:fillRect/>
          </a:stretch>
        </p:blipFill>
        <p:spPr>
          <a:xfrm>
            <a:off x="765810" y="2027682"/>
            <a:ext cx="251460" cy="251460"/>
          </a:xfrm>
          <a:prstGeom prst="rect">
            <a:avLst/>
          </a:prstGeom>
        </p:spPr>
      </p:pic>
      <p:sp>
        <p:nvSpPr>
          <p:cNvPr id="9" name="Text 5"/>
          <p:cNvSpPr/>
          <p:nvPr/>
        </p:nvSpPr>
        <p:spPr>
          <a:xfrm>
            <a:off x="1325880" y="1883664"/>
            <a:ext cx="2103120" cy="548640"/>
          </a:xfrm>
          <a:prstGeom prst="rect">
            <a:avLst/>
          </a:prstGeom>
          <a:noFill/>
          <a:ln/>
        </p:spPr>
        <p:txBody>
          <a:bodyPr wrap="square" rtlCol="0" anchor="ctr"/>
          <a:lstStyle/>
          <a:p>
            <a:pPr indent="0" marL="0">
              <a:buNone/>
            </a:pPr>
            <a:r>
              <a:rPr lang="en-US" sz="1700" b="1" dirty="0">
                <a:solidFill>
                  <a:srgbClr val="1E2761"/>
                </a:solidFill>
                <a:latin typeface="Arial" pitchFamily="34" charset="0"/>
                <a:ea typeface="Arial" pitchFamily="34" charset="-122"/>
                <a:cs typeface="Arial" pitchFamily="34" charset="-120"/>
              </a:rPr>
              <a:t>Relevant</a:t>
            </a:r>
            <a:endParaRPr lang="en-US" sz="1700" dirty="0"/>
          </a:p>
        </p:txBody>
      </p:sp>
      <p:sp>
        <p:nvSpPr>
          <p:cNvPr id="10" name="Text 6"/>
          <p:cNvSpPr/>
          <p:nvPr/>
        </p:nvSpPr>
        <p:spPr>
          <a:xfrm>
            <a:off x="3474720" y="1883664"/>
            <a:ext cx="5212080" cy="548640"/>
          </a:xfrm>
          <a:prstGeom prst="rect">
            <a:avLst/>
          </a:prstGeom>
          <a:noFill/>
          <a:ln/>
        </p:spPr>
        <p:txBody>
          <a:bodyPr wrap="square" rtlCol="0" anchor="ctr"/>
          <a:lstStyle/>
          <a:p>
            <a:pPr indent="0" marL="0">
              <a:buNone/>
            </a:pPr>
            <a:r>
              <a:rPr lang="en-US" sz="1400" dirty="0">
                <a:solidFill>
                  <a:srgbClr val="2B2B2B"/>
                </a:solidFill>
                <a:latin typeface="Arial" pitchFamily="34" charset="0"/>
                <a:ea typeface="Arial" pitchFamily="34" charset="-122"/>
                <a:cs typeface="Arial" pitchFamily="34" charset="-120"/>
              </a:rPr>
              <a:t>Suggestions match the prefix (match at the start only)</a:t>
            </a:r>
            <a:endParaRPr lang="en-US" sz="1400" dirty="0"/>
          </a:p>
        </p:txBody>
      </p:sp>
      <p:sp>
        <p:nvSpPr>
          <p:cNvPr id="11" name="Shape 7"/>
          <p:cNvSpPr/>
          <p:nvPr/>
        </p:nvSpPr>
        <p:spPr>
          <a:xfrm>
            <a:off x="640080" y="2660904"/>
            <a:ext cx="502920" cy="502920"/>
          </a:xfrm>
          <a:prstGeom prst="ellipse">
            <a:avLst/>
          </a:prstGeom>
          <a:solidFill>
            <a:srgbClr val="EAF1FD"/>
          </a:solidFill>
          <a:ln/>
        </p:spPr>
      </p:sp>
      <p:pic>
        <p:nvPicPr>
          <p:cNvPr id="12" name="Image 2" descr="preencoded.png">    </p:cNvPr>
          <p:cNvPicPr>
            <a:picLocks noChangeAspect="1"/>
          </p:cNvPicPr>
          <p:nvPr/>
        </p:nvPicPr>
        <p:blipFill>
          <a:blip r:embed="rId3"/>
          <a:stretch>
            <a:fillRect/>
          </a:stretch>
        </p:blipFill>
        <p:spPr>
          <a:xfrm>
            <a:off x="765810" y="2786634"/>
            <a:ext cx="251460" cy="251460"/>
          </a:xfrm>
          <a:prstGeom prst="rect">
            <a:avLst/>
          </a:prstGeom>
        </p:spPr>
      </p:pic>
      <p:sp>
        <p:nvSpPr>
          <p:cNvPr id="13" name="Text 8"/>
          <p:cNvSpPr/>
          <p:nvPr/>
        </p:nvSpPr>
        <p:spPr>
          <a:xfrm>
            <a:off x="1325880" y="2642616"/>
            <a:ext cx="2103120" cy="548640"/>
          </a:xfrm>
          <a:prstGeom prst="rect">
            <a:avLst/>
          </a:prstGeom>
          <a:noFill/>
          <a:ln/>
        </p:spPr>
        <p:txBody>
          <a:bodyPr wrap="square" rtlCol="0" anchor="ctr"/>
          <a:lstStyle/>
          <a:p>
            <a:pPr indent="0" marL="0">
              <a:buNone/>
            </a:pPr>
            <a:r>
              <a:rPr lang="en-US" sz="1700" b="1" dirty="0">
                <a:solidFill>
                  <a:srgbClr val="1E2761"/>
                </a:solidFill>
                <a:latin typeface="Arial" pitchFamily="34" charset="0"/>
                <a:ea typeface="Arial" pitchFamily="34" charset="-122"/>
                <a:cs typeface="Arial" pitchFamily="34" charset="-120"/>
              </a:rPr>
              <a:t>Sorted</a:t>
            </a:r>
            <a:endParaRPr lang="en-US" sz="1700" dirty="0"/>
          </a:p>
        </p:txBody>
      </p:sp>
      <p:sp>
        <p:nvSpPr>
          <p:cNvPr id="14" name="Text 9"/>
          <p:cNvSpPr/>
          <p:nvPr/>
        </p:nvSpPr>
        <p:spPr>
          <a:xfrm>
            <a:off x="3474720" y="2642616"/>
            <a:ext cx="5212080" cy="548640"/>
          </a:xfrm>
          <a:prstGeom prst="rect">
            <a:avLst/>
          </a:prstGeom>
          <a:noFill/>
          <a:ln/>
        </p:spPr>
        <p:txBody>
          <a:bodyPr wrap="square" rtlCol="0" anchor="ctr"/>
          <a:lstStyle/>
          <a:p>
            <a:pPr indent="0" marL="0">
              <a:buNone/>
            </a:pPr>
            <a:r>
              <a:rPr lang="en-US" sz="1400" dirty="0">
                <a:solidFill>
                  <a:srgbClr val="2B2B2B"/>
                </a:solidFill>
                <a:latin typeface="Arial" pitchFamily="34" charset="0"/>
                <a:ea typeface="Arial" pitchFamily="34" charset="-122"/>
                <a:cs typeface="Arial" pitchFamily="34" charset="-120"/>
              </a:rPr>
              <a:t>Ranked by historical query frequency; return top 5</a:t>
            </a:r>
            <a:endParaRPr lang="en-US" sz="1400" dirty="0"/>
          </a:p>
        </p:txBody>
      </p:sp>
      <p:sp>
        <p:nvSpPr>
          <p:cNvPr id="15" name="Shape 10"/>
          <p:cNvSpPr/>
          <p:nvPr/>
        </p:nvSpPr>
        <p:spPr>
          <a:xfrm>
            <a:off x="640080" y="3419856"/>
            <a:ext cx="502920" cy="502920"/>
          </a:xfrm>
          <a:prstGeom prst="ellipse">
            <a:avLst/>
          </a:prstGeom>
          <a:solidFill>
            <a:srgbClr val="EAF1FD"/>
          </a:solidFill>
          <a:ln/>
        </p:spPr>
      </p:sp>
      <p:pic>
        <p:nvPicPr>
          <p:cNvPr id="16" name="Image 3" descr="preencoded.png">    </p:cNvPr>
          <p:cNvPicPr>
            <a:picLocks noChangeAspect="1"/>
          </p:cNvPicPr>
          <p:nvPr/>
        </p:nvPicPr>
        <p:blipFill>
          <a:blip r:embed="rId4"/>
          <a:stretch>
            <a:fillRect/>
          </a:stretch>
        </p:blipFill>
        <p:spPr>
          <a:xfrm>
            <a:off x="765810" y="3545586"/>
            <a:ext cx="251460" cy="251460"/>
          </a:xfrm>
          <a:prstGeom prst="rect">
            <a:avLst/>
          </a:prstGeom>
        </p:spPr>
      </p:pic>
      <p:sp>
        <p:nvSpPr>
          <p:cNvPr id="17" name="Text 11"/>
          <p:cNvSpPr/>
          <p:nvPr/>
        </p:nvSpPr>
        <p:spPr>
          <a:xfrm>
            <a:off x="1325880" y="3401568"/>
            <a:ext cx="2103120" cy="548640"/>
          </a:xfrm>
          <a:prstGeom prst="rect">
            <a:avLst/>
          </a:prstGeom>
          <a:noFill/>
          <a:ln/>
        </p:spPr>
        <p:txBody>
          <a:bodyPr wrap="square" rtlCol="0" anchor="ctr"/>
          <a:lstStyle/>
          <a:p>
            <a:pPr indent="0" marL="0">
              <a:buNone/>
            </a:pPr>
            <a:r>
              <a:rPr lang="en-US" sz="1700" b="1" dirty="0">
                <a:solidFill>
                  <a:srgbClr val="1E2761"/>
                </a:solidFill>
                <a:latin typeface="Arial" pitchFamily="34" charset="0"/>
                <a:ea typeface="Arial" pitchFamily="34" charset="-122"/>
                <a:cs typeface="Arial" pitchFamily="34" charset="-120"/>
              </a:rPr>
              <a:t>Scalable</a:t>
            </a:r>
            <a:endParaRPr lang="en-US" sz="1700" dirty="0"/>
          </a:p>
        </p:txBody>
      </p:sp>
      <p:sp>
        <p:nvSpPr>
          <p:cNvPr id="18" name="Text 12"/>
          <p:cNvSpPr/>
          <p:nvPr/>
        </p:nvSpPr>
        <p:spPr>
          <a:xfrm>
            <a:off x="3474720" y="3401568"/>
            <a:ext cx="5212080" cy="548640"/>
          </a:xfrm>
          <a:prstGeom prst="rect">
            <a:avLst/>
          </a:prstGeom>
          <a:noFill/>
          <a:ln/>
        </p:spPr>
        <p:txBody>
          <a:bodyPr wrap="square" rtlCol="0" anchor="ctr"/>
          <a:lstStyle/>
          <a:p>
            <a:pPr indent="0" marL="0">
              <a:buNone/>
            </a:pPr>
            <a:r>
              <a:rPr lang="en-US" sz="1400" dirty="0">
                <a:solidFill>
                  <a:srgbClr val="2B2B2B"/>
                </a:solidFill>
                <a:latin typeface="Arial" pitchFamily="34" charset="0"/>
                <a:ea typeface="Arial" pitchFamily="34" charset="-122"/>
                <a:cs typeface="Arial" pitchFamily="34" charset="-120"/>
              </a:rPr>
              <a:t>Handle high traffic (10M DAU)</a:t>
            </a:r>
            <a:endParaRPr lang="en-US" sz="1400" dirty="0"/>
          </a:p>
        </p:txBody>
      </p:sp>
      <p:sp>
        <p:nvSpPr>
          <p:cNvPr id="19" name="Shape 13"/>
          <p:cNvSpPr/>
          <p:nvPr/>
        </p:nvSpPr>
        <p:spPr>
          <a:xfrm>
            <a:off x="640080" y="4178808"/>
            <a:ext cx="502920" cy="502920"/>
          </a:xfrm>
          <a:prstGeom prst="ellipse">
            <a:avLst/>
          </a:prstGeom>
          <a:solidFill>
            <a:srgbClr val="EAF1FD"/>
          </a:solidFill>
          <a:ln/>
        </p:spPr>
      </p:sp>
      <p:pic>
        <p:nvPicPr>
          <p:cNvPr id="20" name="Image 4" descr="preencoded.png">    </p:cNvPr>
          <p:cNvPicPr>
            <a:picLocks noChangeAspect="1"/>
          </p:cNvPicPr>
          <p:nvPr/>
        </p:nvPicPr>
        <p:blipFill>
          <a:blip r:embed="rId5"/>
          <a:stretch>
            <a:fillRect/>
          </a:stretch>
        </p:blipFill>
        <p:spPr>
          <a:xfrm>
            <a:off x="765810" y="4304538"/>
            <a:ext cx="251460" cy="251460"/>
          </a:xfrm>
          <a:prstGeom prst="rect">
            <a:avLst/>
          </a:prstGeom>
        </p:spPr>
      </p:pic>
      <p:sp>
        <p:nvSpPr>
          <p:cNvPr id="21" name="Text 14"/>
          <p:cNvSpPr/>
          <p:nvPr/>
        </p:nvSpPr>
        <p:spPr>
          <a:xfrm>
            <a:off x="1325880" y="4160520"/>
            <a:ext cx="2103120" cy="548640"/>
          </a:xfrm>
          <a:prstGeom prst="rect">
            <a:avLst/>
          </a:prstGeom>
          <a:noFill/>
          <a:ln/>
        </p:spPr>
        <p:txBody>
          <a:bodyPr wrap="square" rtlCol="0" anchor="ctr"/>
          <a:lstStyle/>
          <a:p>
            <a:pPr indent="0" marL="0">
              <a:buNone/>
            </a:pPr>
            <a:r>
              <a:rPr lang="en-US" sz="1700" b="1" dirty="0">
                <a:solidFill>
                  <a:srgbClr val="1E2761"/>
                </a:solidFill>
                <a:latin typeface="Arial" pitchFamily="34" charset="0"/>
                <a:ea typeface="Arial" pitchFamily="34" charset="-122"/>
                <a:cs typeface="Arial" pitchFamily="34" charset="-120"/>
              </a:rPr>
              <a:t>Highly available</a:t>
            </a:r>
            <a:endParaRPr lang="en-US" sz="1700" dirty="0"/>
          </a:p>
        </p:txBody>
      </p:sp>
      <p:sp>
        <p:nvSpPr>
          <p:cNvPr id="22" name="Text 15"/>
          <p:cNvSpPr/>
          <p:nvPr/>
        </p:nvSpPr>
        <p:spPr>
          <a:xfrm>
            <a:off x="3474720" y="4160520"/>
            <a:ext cx="5212080" cy="548640"/>
          </a:xfrm>
          <a:prstGeom prst="rect">
            <a:avLst/>
          </a:prstGeom>
          <a:noFill/>
          <a:ln/>
        </p:spPr>
        <p:txBody>
          <a:bodyPr wrap="square" rtlCol="0" anchor="ctr"/>
          <a:lstStyle/>
          <a:p>
            <a:pPr indent="0" marL="0">
              <a:buNone/>
            </a:pPr>
            <a:r>
              <a:rPr lang="en-US" sz="1400" dirty="0">
                <a:solidFill>
                  <a:srgbClr val="2B2B2B"/>
                </a:solidFill>
                <a:latin typeface="Arial" pitchFamily="34" charset="0"/>
                <a:ea typeface="Arial" pitchFamily="34" charset="-122"/>
                <a:cs typeface="Arial" pitchFamily="34" charset="-120"/>
              </a:rPr>
              <a:t>Stay usable even when parts of the system fail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3000" b="1" dirty="0">
                <a:solidFill>
                  <a:srgbClr val="1E2761"/>
                </a:solidFill>
                <a:latin typeface="Arial" pitchFamily="34" charset="0"/>
                <a:ea typeface="Arial" pitchFamily="34" charset="-122"/>
                <a:cs typeface="Arial" pitchFamily="34" charset="-120"/>
              </a:rPr>
              <a:t>Back-of-the-Envelope Estimation</a:t>
            </a:r>
            <a:endParaRPr lang="en-US" sz="3000" dirty="0"/>
          </a:p>
        </p:txBody>
      </p:sp>
      <p:sp>
        <p:nvSpPr>
          <p:cNvPr id="3" name="Shape 1"/>
          <p:cNvSpPr/>
          <p:nvPr/>
        </p:nvSpPr>
        <p:spPr>
          <a:xfrm>
            <a:off x="502920" y="1234440"/>
            <a:ext cx="3931920" cy="1554480"/>
          </a:xfrm>
          <a:prstGeom prst="roundRect">
            <a:avLst>
              <a:gd name="adj" fmla="val 4706"/>
            </a:avLst>
          </a:prstGeom>
          <a:solidFill>
            <a:srgbClr val="EAF1FD"/>
          </a:solidFill>
          <a:ln/>
        </p:spPr>
      </p:sp>
      <p:sp>
        <p:nvSpPr>
          <p:cNvPr id="4" name="Text 2"/>
          <p:cNvSpPr/>
          <p:nvPr/>
        </p:nvSpPr>
        <p:spPr>
          <a:xfrm>
            <a:off x="731520" y="1371600"/>
            <a:ext cx="3474720" cy="685800"/>
          </a:xfrm>
          <a:prstGeom prst="rect">
            <a:avLst/>
          </a:prstGeom>
          <a:noFill/>
          <a:ln/>
        </p:spPr>
        <p:txBody>
          <a:bodyPr wrap="square" rtlCol="0" anchor="ctr"/>
          <a:lstStyle/>
          <a:p>
            <a:pPr indent="0" marL="0">
              <a:buNone/>
            </a:pPr>
            <a:r>
              <a:rPr lang="en-US" sz="3400" b="1" dirty="0">
                <a:solidFill>
                  <a:srgbClr val="4A6CF7"/>
                </a:solidFill>
                <a:latin typeface="Arial" pitchFamily="34" charset="0"/>
                <a:ea typeface="Arial" pitchFamily="34" charset="-122"/>
                <a:cs typeface="Arial" pitchFamily="34" charset="-120"/>
              </a:rPr>
              <a:t>10M</a:t>
            </a:r>
            <a:endParaRPr lang="en-US" sz="3400" dirty="0"/>
          </a:p>
        </p:txBody>
      </p:sp>
      <p:sp>
        <p:nvSpPr>
          <p:cNvPr id="5" name="Text 3"/>
          <p:cNvSpPr/>
          <p:nvPr/>
        </p:nvSpPr>
        <p:spPr>
          <a:xfrm>
            <a:off x="731520" y="2057400"/>
            <a:ext cx="3474720" cy="640080"/>
          </a:xfrm>
          <a:prstGeom prst="rect">
            <a:avLst/>
          </a:prstGeom>
          <a:noFill/>
          <a:ln/>
        </p:spPr>
        <p:txBody>
          <a:bodyPr wrap="square" rtlCol="0" anchor="ctr"/>
          <a:lstStyle/>
          <a:p>
            <a:pPr indent="0" marL="0">
              <a:buNone/>
            </a:pPr>
            <a:r>
              <a:rPr lang="en-US" sz="1250" dirty="0">
                <a:solidFill>
                  <a:srgbClr val="6B7280"/>
                </a:solidFill>
                <a:latin typeface="Arial" pitchFamily="34" charset="0"/>
                <a:ea typeface="Arial" pitchFamily="34" charset="-122"/>
                <a:cs typeface="Arial" pitchFamily="34" charset="-120"/>
              </a:rPr>
              <a:t>Daily active users</a:t>
            </a:r>
            <a:endParaRPr lang="en-US" sz="1250" dirty="0"/>
          </a:p>
          <a:p>
            <a:pPr indent="0" marL="0">
              <a:buNone/>
            </a:pPr>
            <a:r>
              <a:rPr lang="en-US" sz="1250" dirty="0">
                <a:solidFill>
                  <a:srgbClr val="6B7280"/>
                </a:solidFill>
                <a:latin typeface="Arial" pitchFamily="34" charset="0"/>
                <a:ea typeface="Arial" pitchFamily="34" charset="-122"/>
                <a:cs typeface="Arial" pitchFamily="34" charset="-120"/>
              </a:rPr>
              <a:t>10 searches per user/day</a:t>
            </a:r>
            <a:endParaRPr lang="en-US" sz="1250" dirty="0"/>
          </a:p>
        </p:txBody>
      </p:sp>
      <p:sp>
        <p:nvSpPr>
          <p:cNvPr id="6" name="Shape 4"/>
          <p:cNvSpPr/>
          <p:nvPr/>
        </p:nvSpPr>
        <p:spPr>
          <a:xfrm>
            <a:off x="4754880" y="1234440"/>
            <a:ext cx="3931920" cy="1554480"/>
          </a:xfrm>
          <a:prstGeom prst="roundRect">
            <a:avLst>
              <a:gd name="adj" fmla="val 4706"/>
            </a:avLst>
          </a:prstGeom>
          <a:solidFill>
            <a:srgbClr val="EAF1FD"/>
          </a:solidFill>
          <a:ln/>
        </p:spPr>
      </p:sp>
      <p:sp>
        <p:nvSpPr>
          <p:cNvPr id="7" name="Text 5"/>
          <p:cNvSpPr/>
          <p:nvPr/>
        </p:nvSpPr>
        <p:spPr>
          <a:xfrm>
            <a:off x="4983480" y="1371600"/>
            <a:ext cx="3474720" cy="685800"/>
          </a:xfrm>
          <a:prstGeom prst="rect">
            <a:avLst/>
          </a:prstGeom>
          <a:noFill/>
          <a:ln/>
        </p:spPr>
        <p:txBody>
          <a:bodyPr wrap="square" rtlCol="0" anchor="ctr"/>
          <a:lstStyle/>
          <a:p>
            <a:pPr indent="0" marL="0">
              <a:buNone/>
            </a:pPr>
            <a:r>
              <a:rPr lang="en-US" sz="3400" b="1" dirty="0">
                <a:solidFill>
                  <a:srgbClr val="4A6CF7"/>
                </a:solidFill>
                <a:latin typeface="Arial" pitchFamily="34" charset="0"/>
                <a:ea typeface="Arial" pitchFamily="34" charset="-122"/>
                <a:cs typeface="Arial" pitchFamily="34" charset="-120"/>
              </a:rPr>
              <a:t>~24,000</a:t>
            </a:r>
            <a:endParaRPr lang="en-US" sz="3400" dirty="0"/>
          </a:p>
        </p:txBody>
      </p:sp>
      <p:sp>
        <p:nvSpPr>
          <p:cNvPr id="8" name="Text 6"/>
          <p:cNvSpPr/>
          <p:nvPr/>
        </p:nvSpPr>
        <p:spPr>
          <a:xfrm>
            <a:off x="4983480" y="2057400"/>
            <a:ext cx="3474720" cy="640080"/>
          </a:xfrm>
          <a:prstGeom prst="rect">
            <a:avLst/>
          </a:prstGeom>
          <a:noFill/>
          <a:ln/>
        </p:spPr>
        <p:txBody>
          <a:bodyPr wrap="square" rtlCol="0" anchor="ctr"/>
          <a:lstStyle/>
          <a:p>
            <a:pPr indent="0" marL="0">
              <a:buNone/>
            </a:pPr>
            <a:r>
              <a:rPr lang="en-US" sz="1250" dirty="0">
                <a:solidFill>
                  <a:srgbClr val="6B7280"/>
                </a:solidFill>
                <a:latin typeface="Arial" pitchFamily="34" charset="0"/>
                <a:ea typeface="Arial" pitchFamily="34" charset="-122"/>
                <a:cs typeface="Arial" pitchFamily="34" charset="-120"/>
              </a:rPr>
              <a:t>Average QPS</a:t>
            </a:r>
            <a:endParaRPr lang="en-US" sz="1250" dirty="0"/>
          </a:p>
          <a:p>
            <a:pPr indent="0" marL="0">
              <a:buNone/>
            </a:pPr>
            <a:r>
              <a:rPr lang="en-US" sz="1250" dirty="0">
                <a:solidFill>
                  <a:srgbClr val="6B7280"/>
                </a:solidFill>
                <a:latin typeface="Arial" pitchFamily="34" charset="0"/>
                <a:ea typeface="Arial" pitchFamily="34" charset="-122"/>
                <a:cs typeface="Arial" pitchFamily="34" charset="-120"/>
              </a:rPr>
              <a:t>Peak ×2 ≈ 48,000</a:t>
            </a:r>
            <a:endParaRPr lang="en-US" sz="1250" dirty="0"/>
          </a:p>
        </p:txBody>
      </p:sp>
      <p:sp>
        <p:nvSpPr>
          <p:cNvPr id="9" name="Shape 7"/>
          <p:cNvSpPr/>
          <p:nvPr/>
        </p:nvSpPr>
        <p:spPr>
          <a:xfrm>
            <a:off x="502920" y="3017520"/>
            <a:ext cx="3931920" cy="1554480"/>
          </a:xfrm>
          <a:prstGeom prst="roundRect">
            <a:avLst>
              <a:gd name="adj" fmla="val 4706"/>
            </a:avLst>
          </a:prstGeom>
          <a:solidFill>
            <a:srgbClr val="EAF1FD"/>
          </a:solidFill>
          <a:ln/>
        </p:spPr>
      </p:sp>
      <p:sp>
        <p:nvSpPr>
          <p:cNvPr id="10" name="Text 8"/>
          <p:cNvSpPr/>
          <p:nvPr/>
        </p:nvSpPr>
        <p:spPr>
          <a:xfrm>
            <a:off x="731520" y="3154680"/>
            <a:ext cx="3474720" cy="685800"/>
          </a:xfrm>
          <a:prstGeom prst="rect">
            <a:avLst/>
          </a:prstGeom>
          <a:noFill/>
          <a:ln/>
        </p:spPr>
        <p:txBody>
          <a:bodyPr wrap="square" rtlCol="0" anchor="ctr"/>
          <a:lstStyle/>
          <a:p>
            <a:pPr indent="0" marL="0">
              <a:buNone/>
            </a:pPr>
            <a:r>
              <a:rPr lang="en-US" sz="3400" b="1" dirty="0">
                <a:solidFill>
                  <a:srgbClr val="4A6CF7"/>
                </a:solidFill>
                <a:latin typeface="Arial" pitchFamily="34" charset="0"/>
                <a:ea typeface="Arial" pitchFamily="34" charset="-122"/>
                <a:cs typeface="Arial" pitchFamily="34" charset="-120"/>
              </a:rPr>
              <a:t>20 bytes</a:t>
            </a:r>
            <a:endParaRPr lang="en-US" sz="3400" dirty="0"/>
          </a:p>
        </p:txBody>
      </p:sp>
      <p:sp>
        <p:nvSpPr>
          <p:cNvPr id="11" name="Text 9"/>
          <p:cNvSpPr/>
          <p:nvPr/>
        </p:nvSpPr>
        <p:spPr>
          <a:xfrm>
            <a:off x="731520" y="3840480"/>
            <a:ext cx="3474720" cy="640080"/>
          </a:xfrm>
          <a:prstGeom prst="rect">
            <a:avLst/>
          </a:prstGeom>
          <a:noFill/>
          <a:ln/>
        </p:spPr>
        <p:txBody>
          <a:bodyPr wrap="square" rtlCol="0" anchor="ctr"/>
          <a:lstStyle/>
          <a:p>
            <a:pPr indent="0" marL="0">
              <a:buNone/>
            </a:pPr>
            <a:r>
              <a:rPr lang="en-US" sz="1250" dirty="0">
                <a:solidFill>
                  <a:srgbClr val="6B7280"/>
                </a:solidFill>
                <a:latin typeface="Arial" pitchFamily="34" charset="0"/>
                <a:ea typeface="Arial" pitchFamily="34" charset="-122"/>
                <a:cs typeface="Arial" pitchFamily="34" charset="-120"/>
              </a:rPr>
              <a:t>Per query</a:t>
            </a:r>
            <a:endParaRPr lang="en-US" sz="1250" dirty="0"/>
          </a:p>
          <a:p>
            <a:pPr indent="0" marL="0">
              <a:buNone/>
            </a:pPr>
            <a:r>
              <a:rPr lang="en-US" sz="1250" dirty="0">
                <a:solidFill>
                  <a:srgbClr val="6B7280"/>
                </a:solidFill>
                <a:latin typeface="Arial" pitchFamily="34" charset="0"/>
                <a:ea typeface="Arial" pitchFamily="34" charset="-122"/>
                <a:cs typeface="Arial" pitchFamily="34" charset="-120"/>
              </a:rPr>
              <a:t>1 request per character typed</a:t>
            </a:r>
            <a:endParaRPr lang="en-US" sz="1250" dirty="0"/>
          </a:p>
        </p:txBody>
      </p:sp>
      <p:sp>
        <p:nvSpPr>
          <p:cNvPr id="12" name="Shape 10"/>
          <p:cNvSpPr/>
          <p:nvPr/>
        </p:nvSpPr>
        <p:spPr>
          <a:xfrm>
            <a:off x="4754880" y="3017520"/>
            <a:ext cx="3931920" cy="1554480"/>
          </a:xfrm>
          <a:prstGeom prst="roundRect">
            <a:avLst>
              <a:gd name="adj" fmla="val 4706"/>
            </a:avLst>
          </a:prstGeom>
          <a:solidFill>
            <a:srgbClr val="EAF1FD"/>
          </a:solidFill>
          <a:ln/>
        </p:spPr>
      </p:sp>
      <p:sp>
        <p:nvSpPr>
          <p:cNvPr id="13" name="Text 11"/>
          <p:cNvSpPr/>
          <p:nvPr/>
        </p:nvSpPr>
        <p:spPr>
          <a:xfrm>
            <a:off x="4983480" y="3154680"/>
            <a:ext cx="3474720" cy="685800"/>
          </a:xfrm>
          <a:prstGeom prst="rect">
            <a:avLst/>
          </a:prstGeom>
          <a:noFill/>
          <a:ln/>
        </p:spPr>
        <p:txBody>
          <a:bodyPr wrap="square" rtlCol="0" anchor="ctr"/>
          <a:lstStyle/>
          <a:p>
            <a:pPr indent="0" marL="0">
              <a:buNone/>
            </a:pPr>
            <a:r>
              <a:rPr lang="en-US" sz="3400" b="1" dirty="0">
                <a:solidFill>
                  <a:srgbClr val="4A6CF7"/>
                </a:solidFill>
                <a:latin typeface="Arial" pitchFamily="34" charset="0"/>
                <a:ea typeface="Arial" pitchFamily="34" charset="-122"/>
                <a:cs typeface="Arial" pitchFamily="34" charset="-120"/>
              </a:rPr>
              <a:t>0.4 GB</a:t>
            </a:r>
            <a:endParaRPr lang="en-US" sz="3400" dirty="0"/>
          </a:p>
        </p:txBody>
      </p:sp>
      <p:sp>
        <p:nvSpPr>
          <p:cNvPr id="14" name="Text 12"/>
          <p:cNvSpPr/>
          <p:nvPr/>
        </p:nvSpPr>
        <p:spPr>
          <a:xfrm>
            <a:off x="4983480" y="3840480"/>
            <a:ext cx="3474720" cy="640080"/>
          </a:xfrm>
          <a:prstGeom prst="rect">
            <a:avLst/>
          </a:prstGeom>
          <a:noFill/>
          <a:ln/>
        </p:spPr>
        <p:txBody>
          <a:bodyPr wrap="square" rtlCol="0" anchor="ctr"/>
          <a:lstStyle/>
          <a:p>
            <a:pPr indent="0" marL="0">
              <a:buNone/>
            </a:pPr>
            <a:r>
              <a:rPr lang="en-US" sz="1250" dirty="0">
                <a:solidFill>
                  <a:srgbClr val="6B7280"/>
                </a:solidFill>
                <a:latin typeface="Arial" pitchFamily="34" charset="0"/>
                <a:ea typeface="Arial" pitchFamily="34" charset="-122"/>
                <a:cs typeface="Arial" pitchFamily="34" charset="-120"/>
              </a:rPr>
              <a:t>New data per day</a:t>
            </a:r>
            <a:endParaRPr lang="en-US" sz="1250" dirty="0"/>
          </a:p>
          <a:p>
            <a:pPr indent="0" marL="0">
              <a:buNone/>
            </a:pPr>
            <a:r>
              <a:rPr lang="en-US" sz="1250" dirty="0">
                <a:solidFill>
                  <a:srgbClr val="6B7280"/>
                </a:solidFill>
                <a:latin typeface="Arial" pitchFamily="34" charset="0"/>
                <a:ea typeface="Arial" pitchFamily="34" charset="-122"/>
                <a:cs typeface="Arial" pitchFamily="34" charset="-120"/>
              </a:rPr>
              <a:t>(assuming 20% queries are new)</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800" b="1" dirty="0">
                <a:solidFill>
                  <a:srgbClr val="1E2761"/>
                </a:solidFill>
                <a:latin typeface="Arial" pitchFamily="34" charset="0"/>
                <a:ea typeface="Arial" pitchFamily="34" charset="-122"/>
                <a:cs typeface="Arial" pitchFamily="34" charset="-120"/>
              </a:rPr>
              <a:t>Step 2 — High-Level Design: Two Services</a:t>
            </a:r>
            <a:endParaRPr lang="en-US" sz="2800" dirty="0"/>
          </a:p>
        </p:txBody>
      </p:sp>
      <p:sp>
        <p:nvSpPr>
          <p:cNvPr id="3" name="Shape 1"/>
          <p:cNvSpPr/>
          <p:nvPr/>
        </p:nvSpPr>
        <p:spPr>
          <a:xfrm>
            <a:off x="502920" y="1234440"/>
            <a:ext cx="3931920" cy="3154680"/>
          </a:xfrm>
          <a:prstGeom prst="roundRect">
            <a:avLst>
              <a:gd name="adj" fmla="val 2899"/>
            </a:avLst>
          </a:prstGeom>
          <a:solidFill>
            <a:srgbClr val="1E2761"/>
          </a:solidFill>
          <a:ln/>
        </p:spPr>
      </p:sp>
      <p:sp>
        <p:nvSpPr>
          <p:cNvPr id="4" name="Shape 2"/>
          <p:cNvSpPr/>
          <p:nvPr/>
        </p:nvSpPr>
        <p:spPr>
          <a:xfrm>
            <a:off x="868680" y="1554480"/>
            <a:ext cx="594360" cy="594360"/>
          </a:xfrm>
          <a:prstGeom prst="ellipse">
            <a:avLst/>
          </a:prstGeom>
          <a:solidFill>
            <a:srgbClr val="4A6CF7"/>
          </a:solidFill>
          <a:ln/>
        </p:spPr>
      </p:sp>
      <p:pic>
        <p:nvPicPr>
          <p:cNvPr id="5" name="Image 0" descr="preencoded.png">    </p:cNvPr>
          <p:cNvPicPr>
            <a:picLocks noChangeAspect="1"/>
          </p:cNvPicPr>
          <p:nvPr/>
        </p:nvPicPr>
        <p:blipFill>
          <a:blip r:embed="rId1"/>
          <a:stretch>
            <a:fillRect/>
          </a:stretch>
        </p:blipFill>
        <p:spPr>
          <a:xfrm>
            <a:off x="1014984" y="1700784"/>
            <a:ext cx="301752" cy="301752"/>
          </a:xfrm>
          <a:prstGeom prst="rect">
            <a:avLst/>
          </a:prstGeom>
        </p:spPr>
      </p:pic>
      <p:sp>
        <p:nvSpPr>
          <p:cNvPr id="6" name="Text 3"/>
          <p:cNvSpPr/>
          <p:nvPr/>
        </p:nvSpPr>
        <p:spPr>
          <a:xfrm>
            <a:off x="1600200" y="1554480"/>
            <a:ext cx="2743200" cy="59436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Data Gathering</a:t>
            </a:r>
            <a:endParaRPr lang="en-US" sz="1900" dirty="0"/>
          </a:p>
        </p:txBody>
      </p:sp>
      <p:sp>
        <p:nvSpPr>
          <p:cNvPr id="7" name="Text 4"/>
          <p:cNvSpPr/>
          <p:nvPr/>
        </p:nvSpPr>
        <p:spPr>
          <a:xfrm>
            <a:off x="868680" y="2331720"/>
            <a:ext cx="3291840" cy="1828800"/>
          </a:xfrm>
          <a:prstGeom prst="rect">
            <a:avLst/>
          </a:prstGeom>
          <a:noFill/>
          <a:ln/>
        </p:spPr>
        <p:txBody>
          <a:bodyPr wrap="square" rtlCol="0" anchor="ctr"/>
          <a:lstStyle/>
          <a:p>
            <a:pPr marL="342900" indent="-342900">
              <a:spcAft>
                <a:spcPts val="1000"/>
              </a:spcAft>
              <a:buSzPct val="100000"/>
              <a:buChar char="•"/>
            </a:pPr>
            <a:r>
              <a:rPr lang="en-US" sz="1400" dirty="0">
                <a:solidFill>
                  <a:srgbClr val="CADCFC"/>
                </a:solidFill>
                <a:latin typeface="Arial" pitchFamily="34" charset="0"/>
                <a:ea typeface="Arial" pitchFamily="34" charset="-122"/>
                <a:cs typeface="Arial" pitchFamily="34" charset="-120"/>
              </a:rPr>
              <a:t>Collects user input, aggregates frequency</a:t>
            </a:r>
            <a:endParaRPr lang="en-US" sz="1400" dirty="0"/>
          </a:p>
          <a:p>
            <a:pPr marL="342900" indent="-342900">
              <a:spcAft>
                <a:spcPts val="1000"/>
              </a:spcAft>
              <a:buSzPct val="100000"/>
              <a:buChar char="•"/>
            </a:pPr>
            <a:r>
              <a:rPr lang="en-US" sz="1400" dirty="0">
                <a:solidFill>
                  <a:srgbClr val="CADCFC"/>
                </a:solidFill>
                <a:latin typeface="Arial" pitchFamily="34" charset="0"/>
                <a:ea typeface="Arial" pitchFamily="34" charset="-122"/>
                <a:cs typeface="Arial" pitchFamily="34" charset="-120"/>
              </a:rPr>
              <a:t>Maintains a "query → frequency" table</a:t>
            </a:r>
            <a:endParaRPr lang="en-US" sz="1400" dirty="0"/>
          </a:p>
          <a:p>
            <a:pPr marL="342900" indent="-342900">
              <a:spcAft>
                <a:spcPts val="1000"/>
              </a:spcAft>
              <a:buSzPct val="100000"/>
              <a:buChar char="•"/>
            </a:pPr>
            <a:r>
              <a:rPr lang="en-US" sz="1400" dirty="0">
                <a:solidFill>
                  <a:srgbClr val="CADCFC"/>
                </a:solidFill>
                <a:latin typeface="Arial" pitchFamily="34" charset="0"/>
                <a:ea typeface="Arial" pitchFamily="34" charset="-122"/>
                <a:cs typeface="Arial" pitchFamily="34" charset="-120"/>
              </a:rPr>
              <a:t>Not real-time; processed in periodic batches</a:t>
            </a:r>
            <a:endParaRPr lang="en-US" sz="1400" dirty="0"/>
          </a:p>
        </p:txBody>
      </p:sp>
      <p:sp>
        <p:nvSpPr>
          <p:cNvPr id="8" name="Shape 5"/>
          <p:cNvSpPr/>
          <p:nvPr/>
        </p:nvSpPr>
        <p:spPr>
          <a:xfrm>
            <a:off x="4709160" y="1234440"/>
            <a:ext cx="3931920" cy="3154680"/>
          </a:xfrm>
          <a:prstGeom prst="roundRect">
            <a:avLst>
              <a:gd name="adj" fmla="val 2899"/>
            </a:avLst>
          </a:prstGeom>
          <a:solidFill>
            <a:srgbClr val="EAF1FD"/>
          </a:solidFill>
          <a:ln/>
        </p:spPr>
      </p:sp>
      <p:sp>
        <p:nvSpPr>
          <p:cNvPr id="9" name="Shape 6"/>
          <p:cNvSpPr/>
          <p:nvPr/>
        </p:nvSpPr>
        <p:spPr>
          <a:xfrm>
            <a:off x="5074920" y="1554480"/>
            <a:ext cx="594360" cy="594360"/>
          </a:xfrm>
          <a:prstGeom prst="ellipse">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5221224" y="1700784"/>
            <a:ext cx="301752" cy="301752"/>
          </a:xfrm>
          <a:prstGeom prst="rect">
            <a:avLst/>
          </a:prstGeom>
        </p:spPr>
      </p:pic>
      <p:sp>
        <p:nvSpPr>
          <p:cNvPr id="11" name="Text 7"/>
          <p:cNvSpPr/>
          <p:nvPr/>
        </p:nvSpPr>
        <p:spPr>
          <a:xfrm>
            <a:off x="5806440" y="1554480"/>
            <a:ext cx="2743200" cy="594360"/>
          </a:xfrm>
          <a:prstGeom prst="rect">
            <a:avLst/>
          </a:prstGeom>
          <a:noFill/>
          <a:ln/>
        </p:spPr>
        <p:txBody>
          <a:bodyPr wrap="square" rtlCol="0" anchor="ctr"/>
          <a:lstStyle/>
          <a:p>
            <a:pPr indent="0" marL="0">
              <a:buNone/>
            </a:pPr>
            <a:r>
              <a:rPr lang="en-US" sz="1900" b="1" dirty="0">
                <a:solidFill>
                  <a:srgbClr val="1E2761"/>
                </a:solidFill>
                <a:latin typeface="Arial" pitchFamily="34" charset="0"/>
                <a:ea typeface="Arial" pitchFamily="34" charset="-122"/>
                <a:cs typeface="Arial" pitchFamily="34" charset="-120"/>
              </a:rPr>
              <a:t>Query Service</a:t>
            </a:r>
            <a:endParaRPr lang="en-US" sz="1900" dirty="0"/>
          </a:p>
        </p:txBody>
      </p:sp>
      <p:sp>
        <p:nvSpPr>
          <p:cNvPr id="12" name="Text 8"/>
          <p:cNvSpPr/>
          <p:nvPr/>
        </p:nvSpPr>
        <p:spPr>
          <a:xfrm>
            <a:off x="5074920" y="2331720"/>
            <a:ext cx="3291840" cy="1828800"/>
          </a:xfrm>
          <a:prstGeom prst="rect">
            <a:avLst/>
          </a:prstGeom>
          <a:noFill/>
          <a:ln/>
        </p:spPr>
        <p:txBody>
          <a:bodyPr wrap="square" rtlCol="0" anchor="ctr"/>
          <a:lstStyle/>
          <a:p>
            <a:pPr marL="342900" indent="-342900">
              <a:spcAft>
                <a:spcPts val="1000"/>
              </a:spcAft>
              <a:buSzPct val="100000"/>
              <a:buChar char="•"/>
            </a:pPr>
            <a:r>
              <a:rPr lang="en-US" sz="1400" dirty="0">
                <a:solidFill>
                  <a:srgbClr val="2B2B2B"/>
                </a:solidFill>
                <a:latin typeface="Arial" pitchFamily="34" charset="0"/>
                <a:ea typeface="Arial" pitchFamily="34" charset="-122"/>
                <a:cs typeface="Arial" pitchFamily="34" charset="-120"/>
              </a:rPr>
              <a:t>Given a prefix, return top 5 queries</a:t>
            </a:r>
            <a:endParaRPr lang="en-US" sz="1400" dirty="0"/>
          </a:p>
          <a:p>
            <a:pPr marL="342900" indent="-342900">
              <a:spcAft>
                <a:spcPts val="1000"/>
              </a:spcAft>
              <a:buSzPct val="100000"/>
              <a:buChar char="•"/>
            </a:pPr>
            <a:r>
              <a:rPr lang="en-US" sz="1400" dirty="0">
                <a:solidFill>
                  <a:srgbClr val="2B2B2B"/>
                </a:solidFill>
                <a:latin typeface="Arial" pitchFamily="34" charset="0"/>
                <a:ea typeface="Arial" pitchFamily="34" charset="-122"/>
                <a:cs typeface="Arial" pitchFamily="34" charset="-120"/>
              </a:rPr>
              <a:t>Naive v1: SQL LIKE 'prefix%', sort, take 5</a:t>
            </a:r>
            <a:endParaRPr lang="en-US" sz="1400" dirty="0"/>
          </a:p>
          <a:p>
            <a:pPr marL="342900" indent="-342900">
              <a:spcAft>
                <a:spcPts val="1000"/>
              </a:spcAft>
              <a:buSzPct val="100000"/>
              <a:buChar char="•"/>
            </a:pPr>
            <a:r>
              <a:rPr lang="en-US" sz="1400" dirty="0">
                <a:solidFill>
                  <a:srgbClr val="2B2B2B"/>
                </a:solidFill>
                <a:latin typeface="Arial" pitchFamily="34" charset="0"/>
                <a:ea typeface="Arial" pitchFamily="34" charset="-122"/>
                <a:cs typeface="Arial" pitchFamily="34" charset="-120"/>
              </a:rPr>
              <a:t>DB becomes a bottleneck at scale → use a Trie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600" b="1" dirty="0">
                <a:solidFill>
                  <a:srgbClr val="1E2761"/>
                </a:solidFill>
                <a:latin typeface="Arial" pitchFamily="34" charset="0"/>
                <a:ea typeface="Arial" pitchFamily="34" charset="-122"/>
                <a:cs typeface="Arial" pitchFamily="34" charset="-120"/>
              </a:rPr>
              <a:t>Core Data Structure: the Trie (Prefix Tree)</a:t>
            </a:r>
            <a:endParaRPr lang="en-US" sz="2600" dirty="0"/>
          </a:p>
        </p:txBody>
      </p:sp>
      <p:sp>
        <p:nvSpPr>
          <p:cNvPr id="3" name="Text 1"/>
          <p:cNvSpPr/>
          <p:nvPr/>
        </p:nvSpPr>
        <p:spPr>
          <a:xfrm>
            <a:off x="548640" y="1371600"/>
            <a:ext cx="4297680" cy="3291840"/>
          </a:xfrm>
          <a:prstGeom prst="rect">
            <a:avLst/>
          </a:prstGeom>
          <a:noFill/>
          <a:ln/>
        </p:spPr>
        <p:txBody>
          <a:bodyPr wrap="square" rtlCol="0" anchor="ctr"/>
          <a:lstStyle/>
          <a:p>
            <a:pPr marL="342900" indent="-342900">
              <a:spcAft>
                <a:spcPts val="1300"/>
              </a:spcAft>
              <a:buSzPct val="100000"/>
              <a:buChar char="•"/>
            </a:pPr>
            <a:r>
              <a:rPr lang="en-US" sz="1450" dirty="0">
                <a:solidFill>
                  <a:srgbClr val="2B2B2B"/>
                </a:solidFill>
                <a:latin typeface="Arial" pitchFamily="34" charset="0"/>
                <a:ea typeface="Arial" pitchFamily="34" charset="-122"/>
                <a:cs typeface="Arial" pitchFamily="34" charset="-120"/>
              </a:rPr>
              <a:t>Compactly stores strings; built for prefix lookup</a:t>
            </a:r>
            <a:endParaRPr lang="en-US" sz="1450" dirty="0"/>
          </a:p>
          <a:p>
            <a:pPr marL="342900" indent="-342900">
              <a:spcAft>
                <a:spcPts val="1300"/>
              </a:spcAft>
              <a:buSzPct val="100000"/>
              <a:buChar char="•"/>
            </a:pPr>
            <a:r>
              <a:rPr lang="en-US" sz="1450" dirty="0">
                <a:solidFill>
                  <a:srgbClr val="2B2B2B"/>
                </a:solidFill>
                <a:latin typeface="Arial" pitchFamily="34" charset="0"/>
                <a:ea typeface="Arial" pitchFamily="34" charset="-122"/>
                <a:cs typeface="Arial" pitchFamily="34" charset="-120"/>
              </a:rPr>
              <a:t>Root = empty string; each node = a prefix</a:t>
            </a:r>
            <a:endParaRPr lang="en-US" sz="1450" dirty="0"/>
          </a:p>
          <a:p>
            <a:pPr marL="342900" indent="-342900">
              <a:spcAft>
                <a:spcPts val="1300"/>
              </a:spcAft>
              <a:buSzPct val="100000"/>
              <a:buChar char="•"/>
            </a:pPr>
            <a:r>
              <a:rPr lang="en-US" sz="1450" dirty="0">
                <a:solidFill>
                  <a:srgbClr val="2B2B2B"/>
                </a:solidFill>
                <a:latin typeface="Arial" pitchFamily="34" charset="0"/>
                <a:ea typeface="Arial" pitchFamily="34" charset="-122"/>
                <a:cs typeface="Arial" pitchFamily="34" charset="-120"/>
              </a:rPr>
              <a:t>Nodes store frequency to rank popularity</a:t>
            </a:r>
            <a:endParaRPr lang="en-US" sz="1450" dirty="0"/>
          </a:p>
          <a:p>
            <a:pPr marL="342900" indent="-342900">
              <a:spcAft>
                <a:spcPts val="1300"/>
              </a:spcAft>
              <a:buSzPct val="100000"/>
              <a:buChar char="•"/>
            </a:pPr>
            <a:r>
              <a:rPr lang="en-US" sz="1450" dirty="0">
                <a:solidFill>
                  <a:srgbClr val="2B2B2B"/>
                </a:solidFill>
                <a:latin typeface="Arial" pitchFamily="34" charset="0"/>
                <a:ea typeface="Arial" pitchFamily="34" charset="-122"/>
                <a:cs typeface="Arial" pitchFamily="34" charset="-120"/>
              </a:rPr>
              <a:t>Query: find prefix → walk subtree → take top k</a:t>
            </a:r>
            <a:endParaRPr lang="en-US" sz="1450" dirty="0"/>
          </a:p>
          <a:p>
            <a:pPr marL="342900" indent="-342900">
              <a:spcAft>
                <a:spcPts val="1300"/>
              </a:spcAft>
              <a:buSzPct val="100000"/>
              <a:buChar char="•"/>
            </a:pPr>
            <a:r>
              <a:rPr lang="en-US" sz="1450" b="1" dirty="0">
                <a:solidFill>
                  <a:srgbClr val="4A6CF7"/>
                </a:solidFill>
                <a:latin typeface="Arial" pitchFamily="34" charset="0"/>
                <a:ea typeface="Arial" pitchFamily="34" charset="-122"/>
                <a:cs typeface="Arial" pitchFamily="34" charset="-120"/>
              </a:rPr>
              <a:t>Downside: worst case walks the whole subtree — slow</a:t>
            </a:r>
            <a:endParaRPr lang="en-US" sz="1450" dirty="0"/>
          </a:p>
        </p:txBody>
      </p:sp>
      <p:sp>
        <p:nvSpPr>
          <p:cNvPr id="4" name="Shape 2"/>
          <p:cNvSpPr/>
          <p:nvPr/>
        </p:nvSpPr>
        <p:spPr>
          <a:xfrm>
            <a:off x="6967728" y="1691640"/>
            <a:ext cx="0" cy="274320"/>
          </a:xfrm>
          <a:prstGeom prst="line">
            <a:avLst/>
          </a:prstGeom>
          <a:noFill/>
          <a:ln w="15875">
            <a:solidFill>
              <a:srgbClr val="6B7280"/>
            </a:solidFill>
            <a:prstDash val="solid"/>
          </a:ln>
        </p:spPr>
      </p:sp>
      <p:sp>
        <p:nvSpPr>
          <p:cNvPr id="5" name="Shape 3"/>
          <p:cNvSpPr/>
          <p:nvPr/>
        </p:nvSpPr>
        <p:spPr>
          <a:xfrm>
            <a:off x="6967728" y="2377440"/>
            <a:ext cx="-658368" cy="320040"/>
          </a:xfrm>
          <a:prstGeom prst="line">
            <a:avLst/>
          </a:prstGeom>
          <a:noFill/>
          <a:ln w="15875">
            <a:solidFill>
              <a:srgbClr val="6B7280"/>
            </a:solidFill>
            <a:prstDash val="solid"/>
          </a:ln>
        </p:spPr>
      </p:sp>
      <p:sp>
        <p:nvSpPr>
          <p:cNvPr id="6" name="Shape 4"/>
          <p:cNvSpPr/>
          <p:nvPr/>
        </p:nvSpPr>
        <p:spPr>
          <a:xfrm>
            <a:off x="6967728" y="2377440"/>
            <a:ext cx="713232" cy="320040"/>
          </a:xfrm>
          <a:prstGeom prst="line">
            <a:avLst/>
          </a:prstGeom>
          <a:noFill/>
          <a:ln w="15875">
            <a:solidFill>
              <a:srgbClr val="6B7280"/>
            </a:solidFill>
            <a:prstDash val="solid"/>
          </a:ln>
        </p:spPr>
      </p:sp>
      <p:sp>
        <p:nvSpPr>
          <p:cNvPr id="7" name="Shape 5"/>
          <p:cNvSpPr/>
          <p:nvPr/>
        </p:nvSpPr>
        <p:spPr>
          <a:xfrm>
            <a:off x="6309360" y="3108960"/>
            <a:ext cx="-731520" cy="365760"/>
          </a:xfrm>
          <a:prstGeom prst="line">
            <a:avLst/>
          </a:prstGeom>
          <a:noFill/>
          <a:ln w="15875">
            <a:solidFill>
              <a:srgbClr val="6B7280"/>
            </a:solidFill>
            <a:prstDash val="solid"/>
          </a:ln>
        </p:spPr>
      </p:sp>
      <p:sp>
        <p:nvSpPr>
          <p:cNvPr id="8" name="Shape 6"/>
          <p:cNvSpPr/>
          <p:nvPr/>
        </p:nvSpPr>
        <p:spPr>
          <a:xfrm>
            <a:off x="6309360" y="3108960"/>
            <a:ext cx="0" cy="365760"/>
          </a:xfrm>
          <a:prstGeom prst="line">
            <a:avLst/>
          </a:prstGeom>
          <a:noFill/>
          <a:ln w="15875">
            <a:solidFill>
              <a:srgbClr val="6B7280"/>
            </a:solidFill>
            <a:prstDash val="solid"/>
          </a:ln>
        </p:spPr>
      </p:sp>
      <p:sp>
        <p:nvSpPr>
          <p:cNvPr id="9" name="Shape 7"/>
          <p:cNvSpPr/>
          <p:nvPr/>
        </p:nvSpPr>
        <p:spPr>
          <a:xfrm>
            <a:off x="6309360" y="3108960"/>
            <a:ext cx="777240" cy="365760"/>
          </a:xfrm>
          <a:prstGeom prst="line">
            <a:avLst/>
          </a:prstGeom>
          <a:noFill/>
          <a:ln w="15875">
            <a:solidFill>
              <a:srgbClr val="6B7280"/>
            </a:solidFill>
            <a:prstDash val="solid"/>
          </a:ln>
        </p:spPr>
      </p:sp>
      <p:sp>
        <p:nvSpPr>
          <p:cNvPr id="10" name="Shape 8"/>
          <p:cNvSpPr/>
          <p:nvPr/>
        </p:nvSpPr>
        <p:spPr>
          <a:xfrm>
            <a:off x="6583680" y="1280160"/>
            <a:ext cx="777240" cy="411480"/>
          </a:xfrm>
          <a:prstGeom prst="roundRect">
            <a:avLst>
              <a:gd name="adj" fmla="val 17778"/>
            </a:avLst>
          </a:prstGeom>
          <a:solidFill>
            <a:srgbClr val="EAF1FD"/>
          </a:solidFill>
          <a:ln w="12700">
            <a:solidFill>
              <a:srgbClr val="1E2761"/>
            </a:solidFill>
            <a:prstDash val="solid"/>
          </a:ln>
        </p:spPr>
      </p:sp>
      <p:sp>
        <p:nvSpPr>
          <p:cNvPr id="11" name="Text 9"/>
          <p:cNvSpPr/>
          <p:nvPr/>
        </p:nvSpPr>
        <p:spPr>
          <a:xfrm>
            <a:off x="6583680" y="1280160"/>
            <a:ext cx="777240" cy="411480"/>
          </a:xfrm>
          <a:prstGeom prst="rect">
            <a:avLst/>
          </a:prstGeom>
          <a:noFill/>
          <a:ln/>
        </p:spPr>
        <p:txBody>
          <a:bodyPr wrap="square" lIns="0" tIns="0" rIns="0" bIns="0" rtlCol="0" anchor="ctr"/>
          <a:lstStyle/>
          <a:p>
            <a:pPr algn="ctr" indent="0" marL="0">
              <a:buNone/>
            </a:pPr>
            <a:r>
              <a:rPr lang="en-US" sz="1200" dirty="0">
                <a:solidFill>
                  <a:srgbClr val="2B2B2B"/>
                </a:solidFill>
                <a:latin typeface="Arial" pitchFamily="34" charset="0"/>
                <a:ea typeface="Arial" pitchFamily="34" charset="-122"/>
                <a:cs typeface="Arial" pitchFamily="34" charset="-120"/>
              </a:rPr>
              <a:t>root</a:t>
            </a:r>
            <a:endParaRPr lang="en-US" sz="1200" dirty="0"/>
          </a:p>
        </p:txBody>
      </p:sp>
      <p:sp>
        <p:nvSpPr>
          <p:cNvPr id="12" name="Shape 10"/>
          <p:cNvSpPr/>
          <p:nvPr/>
        </p:nvSpPr>
        <p:spPr>
          <a:xfrm>
            <a:off x="6583680" y="1965960"/>
            <a:ext cx="777240" cy="411480"/>
          </a:xfrm>
          <a:prstGeom prst="roundRect">
            <a:avLst>
              <a:gd name="adj" fmla="val 17778"/>
            </a:avLst>
          </a:prstGeom>
          <a:solidFill>
            <a:srgbClr val="EAF1FD"/>
          </a:solidFill>
          <a:ln w="12700">
            <a:solidFill>
              <a:srgbClr val="1E2761"/>
            </a:solidFill>
            <a:prstDash val="solid"/>
          </a:ln>
        </p:spPr>
      </p:sp>
      <p:sp>
        <p:nvSpPr>
          <p:cNvPr id="13" name="Text 11"/>
          <p:cNvSpPr/>
          <p:nvPr/>
        </p:nvSpPr>
        <p:spPr>
          <a:xfrm>
            <a:off x="6583680" y="1965960"/>
            <a:ext cx="777240" cy="411480"/>
          </a:xfrm>
          <a:prstGeom prst="rect">
            <a:avLst/>
          </a:prstGeom>
          <a:noFill/>
          <a:ln/>
        </p:spPr>
        <p:txBody>
          <a:bodyPr wrap="square" lIns="0" tIns="0" rIns="0" bIns="0" rtlCol="0" anchor="ctr"/>
          <a:lstStyle/>
          <a:p>
            <a:pPr algn="ctr" indent="0" marL="0">
              <a:buNone/>
            </a:pPr>
            <a:r>
              <a:rPr lang="en-US" sz="1200" dirty="0">
                <a:solidFill>
                  <a:srgbClr val="2B2B2B"/>
                </a:solidFill>
                <a:latin typeface="Arial" pitchFamily="34" charset="0"/>
                <a:ea typeface="Arial" pitchFamily="34" charset="-122"/>
                <a:cs typeface="Arial" pitchFamily="34" charset="-120"/>
              </a:rPr>
              <a:t>t</a:t>
            </a:r>
            <a:endParaRPr lang="en-US" sz="1200" dirty="0"/>
          </a:p>
        </p:txBody>
      </p:sp>
      <p:sp>
        <p:nvSpPr>
          <p:cNvPr id="14" name="Shape 12"/>
          <p:cNvSpPr/>
          <p:nvPr/>
        </p:nvSpPr>
        <p:spPr>
          <a:xfrm>
            <a:off x="5897880" y="2697480"/>
            <a:ext cx="777240" cy="411480"/>
          </a:xfrm>
          <a:prstGeom prst="roundRect">
            <a:avLst>
              <a:gd name="adj" fmla="val 17778"/>
            </a:avLst>
          </a:prstGeom>
          <a:solidFill>
            <a:srgbClr val="EAF1FD"/>
          </a:solidFill>
          <a:ln w="12700">
            <a:solidFill>
              <a:srgbClr val="1E2761"/>
            </a:solidFill>
            <a:prstDash val="solid"/>
          </a:ln>
        </p:spPr>
      </p:sp>
      <p:sp>
        <p:nvSpPr>
          <p:cNvPr id="15" name="Text 13"/>
          <p:cNvSpPr/>
          <p:nvPr/>
        </p:nvSpPr>
        <p:spPr>
          <a:xfrm>
            <a:off x="5897880" y="2697480"/>
            <a:ext cx="777240" cy="411480"/>
          </a:xfrm>
          <a:prstGeom prst="rect">
            <a:avLst/>
          </a:prstGeom>
          <a:noFill/>
          <a:ln/>
        </p:spPr>
        <p:txBody>
          <a:bodyPr wrap="square" lIns="0" tIns="0" rIns="0" bIns="0" rtlCol="0" anchor="ctr"/>
          <a:lstStyle/>
          <a:p>
            <a:pPr algn="ctr" indent="0" marL="0">
              <a:buNone/>
            </a:pPr>
            <a:r>
              <a:rPr lang="en-US" sz="1200" dirty="0">
                <a:solidFill>
                  <a:srgbClr val="2B2B2B"/>
                </a:solidFill>
                <a:latin typeface="Arial" pitchFamily="34" charset="0"/>
                <a:ea typeface="Arial" pitchFamily="34" charset="-122"/>
                <a:cs typeface="Arial" pitchFamily="34" charset="-120"/>
              </a:rPr>
              <a:t>tr</a:t>
            </a:r>
            <a:endParaRPr lang="en-US" sz="1200" dirty="0"/>
          </a:p>
        </p:txBody>
      </p:sp>
      <p:sp>
        <p:nvSpPr>
          <p:cNvPr id="16" name="Shape 14"/>
          <p:cNvSpPr/>
          <p:nvPr/>
        </p:nvSpPr>
        <p:spPr>
          <a:xfrm>
            <a:off x="7315200" y="2697480"/>
            <a:ext cx="777240" cy="411480"/>
          </a:xfrm>
          <a:prstGeom prst="roundRect">
            <a:avLst>
              <a:gd name="adj" fmla="val 17778"/>
            </a:avLst>
          </a:prstGeom>
          <a:solidFill>
            <a:srgbClr val="EAF1FD"/>
          </a:solidFill>
          <a:ln w="12700">
            <a:solidFill>
              <a:srgbClr val="1E2761"/>
            </a:solidFill>
            <a:prstDash val="solid"/>
          </a:ln>
        </p:spPr>
      </p:sp>
      <p:sp>
        <p:nvSpPr>
          <p:cNvPr id="17" name="Text 15"/>
          <p:cNvSpPr/>
          <p:nvPr/>
        </p:nvSpPr>
        <p:spPr>
          <a:xfrm>
            <a:off x="7315200" y="2697480"/>
            <a:ext cx="777240" cy="411480"/>
          </a:xfrm>
          <a:prstGeom prst="rect">
            <a:avLst/>
          </a:prstGeom>
          <a:noFill/>
          <a:ln/>
        </p:spPr>
        <p:txBody>
          <a:bodyPr wrap="square" lIns="0" tIns="0" rIns="0" bIns="0" rtlCol="0" anchor="ctr"/>
          <a:lstStyle/>
          <a:p>
            <a:pPr algn="ctr" indent="0" marL="0">
              <a:buNone/>
            </a:pPr>
            <a:r>
              <a:rPr lang="en-US" sz="1200" dirty="0">
                <a:solidFill>
                  <a:srgbClr val="2B2B2B"/>
                </a:solidFill>
                <a:latin typeface="Arial" pitchFamily="34" charset="0"/>
                <a:ea typeface="Arial" pitchFamily="34" charset="-122"/>
                <a:cs typeface="Arial" pitchFamily="34" charset="-120"/>
              </a:rPr>
              <a:t>to</a:t>
            </a:r>
            <a:endParaRPr lang="en-US" sz="1200" dirty="0"/>
          </a:p>
        </p:txBody>
      </p:sp>
      <p:sp>
        <p:nvSpPr>
          <p:cNvPr id="18" name="Shape 16"/>
          <p:cNvSpPr/>
          <p:nvPr/>
        </p:nvSpPr>
        <p:spPr>
          <a:xfrm>
            <a:off x="5166360" y="3474720"/>
            <a:ext cx="777240" cy="411480"/>
          </a:xfrm>
          <a:prstGeom prst="roundRect">
            <a:avLst>
              <a:gd name="adj" fmla="val 17778"/>
            </a:avLst>
          </a:prstGeom>
          <a:solidFill>
            <a:srgbClr val="EAF1FD"/>
          </a:solidFill>
          <a:ln w="12700">
            <a:solidFill>
              <a:srgbClr val="1E2761"/>
            </a:solidFill>
            <a:prstDash val="solid"/>
          </a:ln>
        </p:spPr>
      </p:sp>
      <p:sp>
        <p:nvSpPr>
          <p:cNvPr id="19" name="Text 17"/>
          <p:cNvSpPr/>
          <p:nvPr/>
        </p:nvSpPr>
        <p:spPr>
          <a:xfrm>
            <a:off x="5166360" y="3474720"/>
            <a:ext cx="777240" cy="411480"/>
          </a:xfrm>
          <a:prstGeom prst="rect">
            <a:avLst/>
          </a:prstGeom>
          <a:noFill/>
          <a:ln/>
        </p:spPr>
        <p:txBody>
          <a:bodyPr wrap="square" lIns="0" tIns="0" rIns="0" bIns="0" rtlCol="0" anchor="ctr"/>
          <a:lstStyle/>
          <a:p>
            <a:pPr algn="ctr" indent="0" marL="0">
              <a:buNone/>
            </a:pPr>
            <a:r>
              <a:rPr lang="en-US" sz="1200" dirty="0">
                <a:solidFill>
                  <a:srgbClr val="2B2B2B"/>
                </a:solidFill>
                <a:latin typeface="Arial" pitchFamily="34" charset="0"/>
                <a:ea typeface="Arial" pitchFamily="34" charset="-122"/>
                <a:cs typeface="Arial" pitchFamily="34" charset="-120"/>
              </a:rPr>
              <a:t>tre</a:t>
            </a:r>
            <a:endParaRPr lang="en-US" sz="1200" dirty="0"/>
          </a:p>
        </p:txBody>
      </p:sp>
      <p:sp>
        <p:nvSpPr>
          <p:cNvPr id="20" name="Shape 18"/>
          <p:cNvSpPr/>
          <p:nvPr/>
        </p:nvSpPr>
        <p:spPr>
          <a:xfrm>
            <a:off x="5989320" y="3474720"/>
            <a:ext cx="777240" cy="411480"/>
          </a:xfrm>
          <a:prstGeom prst="roundRect">
            <a:avLst>
              <a:gd name="adj" fmla="val 17778"/>
            </a:avLst>
          </a:prstGeom>
          <a:solidFill>
            <a:srgbClr val="1E2761"/>
          </a:solidFill>
          <a:ln w="12700">
            <a:solidFill>
              <a:srgbClr val="1E2761"/>
            </a:solidFill>
            <a:prstDash val="solid"/>
          </a:ln>
        </p:spPr>
      </p:sp>
      <p:sp>
        <p:nvSpPr>
          <p:cNvPr id="21" name="Text 19"/>
          <p:cNvSpPr/>
          <p:nvPr/>
        </p:nvSpPr>
        <p:spPr>
          <a:xfrm>
            <a:off x="5989320" y="3474720"/>
            <a:ext cx="7772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try:29</a:t>
            </a:r>
            <a:endParaRPr lang="en-US" sz="1200" dirty="0"/>
          </a:p>
        </p:txBody>
      </p:sp>
      <p:sp>
        <p:nvSpPr>
          <p:cNvPr id="22" name="Shape 20"/>
          <p:cNvSpPr/>
          <p:nvPr/>
        </p:nvSpPr>
        <p:spPr>
          <a:xfrm>
            <a:off x="6812280" y="3474720"/>
            <a:ext cx="777240" cy="411480"/>
          </a:xfrm>
          <a:prstGeom prst="roundRect">
            <a:avLst>
              <a:gd name="adj" fmla="val 17778"/>
            </a:avLst>
          </a:prstGeom>
          <a:solidFill>
            <a:srgbClr val="EAF1FD"/>
          </a:solidFill>
          <a:ln w="12700">
            <a:solidFill>
              <a:srgbClr val="1E2761"/>
            </a:solidFill>
            <a:prstDash val="solid"/>
          </a:ln>
        </p:spPr>
      </p:sp>
      <p:sp>
        <p:nvSpPr>
          <p:cNvPr id="23" name="Text 21"/>
          <p:cNvSpPr/>
          <p:nvPr/>
        </p:nvSpPr>
        <p:spPr>
          <a:xfrm>
            <a:off x="6812280" y="3474720"/>
            <a:ext cx="777240" cy="411480"/>
          </a:xfrm>
          <a:prstGeom prst="rect">
            <a:avLst/>
          </a:prstGeom>
          <a:noFill/>
          <a:ln/>
        </p:spPr>
        <p:txBody>
          <a:bodyPr wrap="square" lIns="0" tIns="0" rIns="0" bIns="0" rtlCol="0" anchor="ctr"/>
          <a:lstStyle/>
          <a:p>
            <a:pPr algn="ctr" indent="0" marL="0">
              <a:buNone/>
            </a:pPr>
            <a:r>
              <a:rPr lang="en-US" sz="1200" dirty="0">
                <a:solidFill>
                  <a:srgbClr val="2B2B2B"/>
                </a:solidFill>
                <a:latin typeface="Arial" pitchFamily="34" charset="0"/>
                <a:ea typeface="Arial" pitchFamily="34" charset="-122"/>
                <a:cs typeface="Arial" pitchFamily="34" charset="-120"/>
              </a:rPr>
              <a:t>tru</a:t>
            </a:r>
            <a:endParaRPr lang="en-US" sz="1200" dirty="0"/>
          </a:p>
        </p:txBody>
      </p:sp>
      <p:sp>
        <p:nvSpPr>
          <p:cNvPr id="24" name="Shape 22"/>
          <p:cNvSpPr/>
          <p:nvPr/>
        </p:nvSpPr>
        <p:spPr>
          <a:xfrm>
            <a:off x="5166360" y="4160520"/>
            <a:ext cx="777240" cy="411480"/>
          </a:xfrm>
          <a:prstGeom prst="roundRect">
            <a:avLst>
              <a:gd name="adj" fmla="val 17778"/>
            </a:avLst>
          </a:prstGeom>
          <a:solidFill>
            <a:srgbClr val="1E2761"/>
          </a:solidFill>
          <a:ln w="12700">
            <a:solidFill>
              <a:srgbClr val="1E2761"/>
            </a:solidFill>
            <a:prstDash val="solid"/>
          </a:ln>
        </p:spPr>
      </p:sp>
      <p:sp>
        <p:nvSpPr>
          <p:cNvPr id="25" name="Text 23"/>
          <p:cNvSpPr/>
          <p:nvPr/>
        </p:nvSpPr>
        <p:spPr>
          <a:xfrm>
            <a:off x="5166360" y="4160520"/>
            <a:ext cx="7772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tree:10</a:t>
            </a:r>
            <a:endParaRPr lang="en-US" sz="1200" dirty="0"/>
          </a:p>
        </p:txBody>
      </p:sp>
      <p:sp>
        <p:nvSpPr>
          <p:cNvPr id="26" name="Shape 24"/>
          <p:cNvSpPr/>
          <p:nvPr/>
        </p:nvSpPr>
        <p:spPr>
          <a:xfrm>
            <a:off x="6812280" y="4160520"/>
            <a:ext cx="777240" cy="411480"/>
          </a:xfrm>
          <a:prstGeom prst="roundRect">
            <a:avLst>
              <a:gd name="adj" fmla="val 17778"/>
            </a:avLst>
          </a:prstGeom>
          <a:solidFill>
            <a:srgbClr val="1E2761"/>
          </a:solidFill>
          <a:ln w="12700">
            <a:solidFill>
              <a:srgbClr val="1E2761"/>
            </a:solidFill>
            <a:prstDash val="solid"/>
          </a:ln>
        </p:spPr>
      </p:sp>
      <p:sp>
        <p:nvSpPr>
          <p:cNvPr id="27" name="Text 25"/>
          <p:cNvSpPr/>
          <p:nvPr/>
        </p:nvSpPr>
        <p:spPr>
          <a:xfrm>
            <a:off x="6812280" y="4160520"/>
            <a:ext cx="7772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true:35</a:t>
            </a:r>
            <a:endParaRPr lang="en-US" sz="1200" dirty="0"/>
          </a:p>
        </p:txBody>
      </p:sp>
      <p:sp>
        <p:nvSpPr>
          <p:cNvPr id="28" name="Shape 26"/>
          <p:cNvSpPr/>
          <p:nvPr/>
        </p:nvSpPr>
        <p:spPr>
          <a:xfrm>
            <a:off x="5550408" y="3886200"/>
            <a:ext cx="0" cy="274320"/>
          </a:xfrm>
          <a:prstGeom prst="line">
            <a:avLst/>
          </a:prstGeom>
          <a:noFill/>
          <a:ln w="15875">
            <a:solidFill>
              <a:srgbClr val="6B7280"/>
            </a:solidFill>
            <a:prstDash val="solid"/>
          </a:ln>
        </p:spPr>
      </p:sp>
      <p:sp>
        <p:nvSpPr>
          <p:cNvPr id="29" name="Shape 27"/>
          <p:cNvSpPr/>
          <p:nvPr/>
        </p:nvSpPr>
        <p:spPr>
          <a:xfrm>
            <a:off x="7196328" y="3886200"/>
            <a:ext cx="0" cy="274320"/>
          </a:xfrm>
          <a:prstGeom prst="line">
            <a:avLst/>
          </a:prstGeom>
          <a:noFill/>
          <a:ln w="15875">
            <a:solidFill>
              <a:srgbClr val="6B7280"/>
            </a:solidFill>
            <a:prstDash val="solid"/>
          </a:ln>
        </p:spPr>
      </p:sp>
      <p:sp>
        <p:nvSpPr>
          <p:cNvPr id="30" name="Text 28"/>
          <p:cNvSpPr/>
          <p:nvPr/>
        </p:nvSpPr>
        <p:spPr>
          <a:xfrm>
            <a:off x="4846320" y="4663440"/>
            <a:ext cx="3931920" cy="320040"/>
          </a:xfrm>
          <a:prstGeom prst="rect">
            <a:avLst/>
          </a:prstGeom>
          <a:noFill/>
          <a:ln/>
        </p:spPr>
        <p:txBody>
          <a:bodyPr wrap="square" rtlCol="0" anchor="ctr"/>
          <a:lstStyle/>
          <a:p>
            <a:pPr algn="ctr" indent="0" marL="0">
              <a:buNone/>
            </a:pPr>
            <a:r>
              <a:rPr lang="en-US" sz="1200" i="1" dirty="0">
                <a:solidFill>
                  <a:srgbClr val="6B7280"/>
                </a:solidFill>
                <a:latin typeface="Arial" pitchFamily="34" charset="0"/>
                <a:ea typeface="Arial" pitchFamily="34" charset="-122"/>
                <a:cs typeface="Arial" pitchFamily="34" charset="-120"/>
              </a:rPr>
              <a:t>Type "tr" → top 2 = [true: 35, try: 29]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800" b="1" dirty="0">
                <a:solidFill>
                  <a:srgbClr val="1E2761"/>
                </a:solidFill>
                <a:latin typeface="Arial" pitchFamily="34" charset="0"/>
                <a:ea typeface="Arial" pitchFamily="34" charset="-122"/>
                <a:cs typeface="Arial" pitchFamily="34" charset="-120"/>
              </a:rPr>
              <a:t>Trie Optimizations: Get Queries to O(1)</a:t>
            </a:r>
            <a:endParaRPr lang="en-US" sz="2800" dirty="0"/>
          </a:p>
        </p:txBody>
      </p:sp>
      <p:sp>
        <p:nvSpPr>
          <p:cNvPr id="3" name="Shape 1"/>
          <p:cNvSpPr/>
          <p:nvPr/>
        </p:nvSpPr>
        <p:spPr>
          <a:xfrm>
            <a:off x="502920" y="1234440"/>
            <a:ext cx="3931920" cy="2286000"/>
          </a:xfrm>
          <a:prstGeom prst="roundRect">
            <a:avLst>
              <a:gd name="adj" fmla="val 4000"/>
            </a:avLst>
          </a:prstGeom>
          <a:solidFill>
            <a:srgbClr val="EAF1FD"/>
          </a:solidFill>
          <a:ln/>
        </p:spPr>
      </p:sp>
      <p:sp>
        <p:nvSpPr>
          <p:cNvPr id="4" name="Shape 2"/>
          <p:cNvSpPr/>
          <p:nvPr/>
        </p:nvSpPr>
        <p:spPr>
          <a:xfrm>
            <a:off x="822960" y="1508760"/>
            <a:ext cx="548640" cy="548640"/>
          </a:xfrm>
          <a:prstGeom prst="ellipse">
            <a:avLst/>
          </a:prstGeom>
          <a:solidFill>
            <a:srgbClr val="FFFFFF"/>
          </a:solidFill>
          <a:ln/>
        </p:spPr>
      </p:sp>
      <p:pic>
        <p:nvPicPr>
          <p:cNvPr id="5" name="Image 0" descr="preencoded.png">    </p:cNvPr>
          <p:cNvPicPr>
            <a:picLocks noChangeAspect="1"/>
          </p:cNvPicPr>
          <p:nvPr/>
        </p:nvPicPr>
        <p:blipFill>
          <a:blip r:embed="rId1"/>
          <a:stretch>
            <a:fillRect/>
          </a:stretch>
        </p:blipFill>
        <p:spPr>
          <a:xfrm>
            <a:off x="960120" y="1645920"/>
            <a:ext cx="274320" cy="274320"/>
          </a:xfrm>
          <a:prstGeom prst="rect">
            <a:avLst/>
          </a:prstGeom>
        </p:spPr>
      </p:pic>
      <p:sp>
        <p:nvSpPr>
          <p:cNvPr id="6" name="Text 3"/>
          <p:cNvSpPr/>
          <p:nvPr/>
        </p:nvSpPr>
        <p:spPr>
          <a:xfrm>
            <a:off x="1508760" y="1508760"/>
            <a:ext cx="2834640" cy="548640"/>
          </a:xfrm>
          <a:prstGeom prst="rect">
            <a:avLst/>
          </a:prstGeom>
          <a:noFill/>
          <a:ln/>
        </p:spPr>
        <p:txBody>
          <a:bodyPr wrap="square" rtlCol="0" anchor="ctr"/>
          <a:lstStyle/>
          <a:p>
            <a:pPr indent="0" marL="0">
              <a:buNone/>
            </a:pPr>
            <a:r>
              <a:rPr lang="en-US" sz="1700" b="1" dirty="0">
                <a:solidFill>
                  <a:srgbClr val="1E2761"/>
                </a:solidFill>
                <a:latin typeface="Arial" pitchFamily="34" charset="0"/>
                <a:ea typeface="Arial" pitchFamily="34" charset="-122"/>
                <a:cs typeface="Arial" pitchFamily="34" charset="-120"/>
              </a:rPr>
              <a:t>1. Limit prefix length</a:t>
            </a:r>
            <a:endParaRPr lang="en-US" sz="1700" dirty="0"/>
          </a:p>
        </p:txBody>
      </p:sp>
      <p:sp>
        <p:nvSpPr>
          <p:cNvPr id="7" name="Text 4"/>
          <p:cNvSpPr/>
          <p:nvPr/>
        </p:nvSpPr>
        <p:spPr>
          <a:xfrm>
            <a:off x="822960" y="2240280"/>
            <a:ext cx="3383280" cy="1097280"/>
          </a:xfrm>
          <a:prstGeom prst="rect">
            <a:avLst/>
          </a:prstGeom>
          <a:noFill/>
          <a:ln/>
        </p:spPr>
        <p:txBody>
          <a:bodyPr wrap="square" rtlCol="0" anchor="ctr"/>
          <a:lstStyle/>
          <a:p>
            <a:pPr indent="0" marL="0">
              <a:buNone/>
            </a:pPr>
            <a:r>
              <a:rPr lang="en-US" sz="1350" dirty="0">
                <a:solidFill>
                  <a:srgbClr val="2B2B2B"/>
                </a:solidFill>
                <a:latin typeface="Arial" pitchFamily="34" charset="0"/>
                <a:ea typeface="Arial" pitchFamily="34" charset="-122"/>
                <a:cs typeface="Arial" pitchFamily="34" charset="-120"/>
              </a:rPr>
              <a:t>Users rarely type long queries. Cap p at a small constant (e.g. 50), so "find prefix" drops from O(p) to O(1).</a:t>
            </a:r>
            <a:endParaRPr lang="en-US" sz="1350" dirty="0"/>
          </a:p>
        </p:txBody>
      </p:sp>
      <p:sp>
        <p:nvSpPr>
          <p:cNvPr id="8" name="Shape 5"/>
          <p:cNvSpPr/>
          <p:nvPr/>
        </p:nvSpPr>
        <p:spPr>
          <a:xfrm>
            <a:off x="4709160" y="1234440"/>
            <a:ext cx="3931920" cy="2286000"/>
          </a:xfrm>
          <a:prstGeom prst="roundRect">
            <a:avLst>
              <a:gd name="adj" fmla="val 4000"/>
            </a:avLst>
          </a:prstGeom>
          <a:solidFill>
            <a:srgbClr val="EAF1FD"/>
          </a:solidFill>
          <a:ln/>
        </p:spPr>
      </p:sp>
      <p:sp>
        <p:nvSpPr>
          <p:cNvPr id="9" name="Shape 6"/>
          <p:cNvSpPr/>
          <p:nvPr/>
        </p:nvSpPr>
        <p:spPr>
          <a:xfrm>
            <a:off x="5029200" y="1508760"/>
            <a:ext cx="548640" cy="548640"/>
          </a:xfrm>
          <a:prstGeom prst="ellipse">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5166360" y="1645920"/>
            <a:ext cx="274320" cy="274320"/>
          </a:xfrm>
          <a:prstGeom prst="rect">
            <a:avLst/>
          </a:prstGeom>
        </p:spPr>
      </p:pic>
      <p:sp>
        <p:nvSpPr>
          <p:cNvPr id="11" name="Text 7"/>
          <p:cNvSpPr/>
          <p:nvPr/>
        </p:nvSpPr>
        <p:spPr>
          <a:xfrm>
            <a:off x="5715000" y="1508760"/>
            <a:ext cx="2834640" cy="548640"/>
          </a:xfrm>
          <a:prstGeom prst="rect">
            <a:avLst/>
          </a:prstGeom>
          <a:noFill/>
          <a:ln/>
        </p:spPr>
        <p:txBody>
          <a:bodyPr wrap="square" rtlCol="0" anchor="ctr"/>
          <a:lstStyle/>
          <a:p>
            <a:pPr indent="0" marL="0">
              <a:buNone/>
            </a:pPr>
            <a:r>
              <a:rPr lang="en-US" sz="1700" b="1" dirty="0">
                <a:solidFill>
                  <a:srgbClr val="1E2761"/>
                </a:solidFill>
                <a:latin typeface="Arial" pitchFamily="34" charset="0"/>
                <a:ea typeface="Arial" pitchFamily="34" charset="-122"/>
                <a:cs typeface="Arial" pitchFamily="34" charset="-120"/>
              </a:rPr>
              <a:t>2. Cache Top K per node</a:t>
            </a:r>
            <a:endParaRPr lang="en-US" sz="1700" dirty="0"/>
          </a:p>
        </p:txBody>
      </p:sp>
      <p:sp>
        <p:nvSpPr>
          <p:cNvPr id="12" name="Text 8"/>
          <p:cNvSpPr/>
          <p:nvPr/>
        </p:nvSpPr>
        <p:spPr>
          <a:xfrm>
            <a:off x="5029200" y="2240280"/>
            <a:ext cx="3383280" cy="1097280"/>
          </a:xfrm>
          <a:prstGeom prst="rect">
            <a:avLst/>
          </a:prstGeom>
          <a:noFill/>
          <a:ln/>
        </p:spPr>
        <p:txBody>
          <a:bodyPr wrap="square" rtlCol="0" anchor="ctr"/>
          <a:lstStyle/>
          <a:p>
            <a:pPr indent="0" marL="0">
              <a:buNone/>
            </a:pPr>
            <a:r>
              <a:rPr lang="en-US" sz="1350" dirty="0">
                <a:solidFill>
                  <a:srgbClr val="2B2B2B"/>
                </a:solidFill>
                <a:latin typeface="Arial" pitchFamily="34" charset="0"/>
                <a:ea typeface="Arial" pitchFamily="34" charset="-122"/>
                <a:cs typeface="Arial" pitchFamily="34" charset="-120"/>
              </a:rPr>
              <a:t>Store the top 5 queries on each node, so there's no subtree walk. Trade space for time — response speed matters most.</a:t>
            </a:r>
            <a:endParaRPr lang="en-US" sz="1350" dirty="0"/>
          </a:p>
        </p:txBody>
      </p:sp>
      <p:sp>
        <p:nvSpPr>
          <p:cNvPr id="13" name="Shape 9"/>
          <p:cNvSpPr/>
          <p:nvPr/>
        </p:nvSpPr>
        <p:spPr>
          <a:xfrm>
            <a:off x="502920" y="3840480"/>
            <a:ext cx="8138160" cy="822960"/>
          </a:xfrm>
          <a:prstGeom prst="roundRect">
            <a:avLst>
              <a:gd name="adj" fmla="val 11111"/>
            </a:avLst>
          </a:prstGeom>
          <a:solidFill>
            <a:srgbClr val="1E2761"/>
          </a:solidFill>
          <a:ln/>
        </p:spPr>
      </p:sp>
      <p:sp>
        <p:nvSpPr>
          <p:cNvPr id="14" name="Text 10"/>
          <p:cNvSpPr/>
          <p:nvPr/>
        </p:nvSpPr>
        <p:spPr>
          <a:xfrm>
            <a:off x="822960" y="3840480"/>
            <a:ext cx="7498080" cy="822960"/>
          </a:xfrm>
          <a:prstGeom prst="rect">
            <a:avLst/>
          </a:prstGeom>
          <a:noFill/>
          <a:ln/>
        </p:spPr>
        <p:txBody>
          <a:bodyPr wrap="square" rtlCol="0" anchor="ctr"/>
          <a:lstStyle/>
          <a:p>
            <a:pPr indent="0" marL="0">
              <a:buNone/>
            </a:pPr>
            <a:r>
              <a:rPr lang="en-US" sz="1500" b="1" dirty="0">
                <a:solidFill>
                  <a:srgbClr val="CADCFC"/>
                </a:solidFill>
                <a:latin typeface="Arial" pitchFamily="34" charset="0"/>
                <a:ea typeface="Arial" pitchFamily="34" charset="-122"/>
                <a:cs typeface="Arial" pitchFamily="34" charset="-120"/>
              </a:rPr>
              <a:t>Result:  </a:t>
            </a:r>
            <a:pPr indent="0" marL="0">
              <a:buNone/>
            </a:pPr>
            <a:r>
              <a:rPr lang="en-US" sz="1500" dirty="0">
                <a:solidFill>
                  <a:srgbClr val="FFFFFF"/>
                </a:solidFill>
                <a:latin typeface="Arial" pitchFamily="34" charset="0"/>
                <a:ea typeface="Arial" pitchFamily="34" charset="-122"/>
                <a:cs typeface="Arial" pitchFamily="34" charset="-120"/>
              </a:rPr>
              <a:t>Find prefix O(1) + read cached Top K O(1)  →  overall query is </a:t>
            </a:r>
            <a:pPr indent="0" marL="0">
              <a:buNone/>
            </a:pPr>
            <a:r>
              <a:rPr lang="en-US" sz="2000" b="1" dirty="0">
                <a:solidFill>
                  <a:srgbClr val="FFFFFF"/>
                </a:solidFill>
                <a:latin typeface="Arial" pitchFamily="34" charset="0"/>
                <a:ea typeface="Arial" pitchFamily="34" charset="-122"/>
                <a:cs typeface="Arial" pitchFamily="34" charset="-120"/>
              </a:rPr>
              <a:t>O(1)</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800" b="1" dirty="0">
                <a:solidFill>
                  <a:srgbClr val="1E2761"/>
                </a:solidFill>
                <a:latin typeface="Arial" pitchFamily="34" charset="0"/>
                <a:ea typeface="Arial" pitchFamily="34" charset="-122"/>
                <a:cs typeface="Arial" pitchFamily="34" charset="-120"/>
              </a:rPr>
              <a:t>Data Gathering: Offline Batch Pipeline</a:t>
            </a:r>
            <a:endParaRPr lang="en-US" sz="2800" dirty="0"/>
          </a:p>
        </p:txBody>
      </p:sp>
      <p:sp>
        <p:nvSpPr>
          <p:cNvPr id="3" name="Text 1"/>
          <p:cNvSpPr/>
          <p:nvPr/>
        </p:nvSpPr>
        <p:spPr>
          <a:xfrm>
            <a:off x="548640" y="1005840"/>
            <a:ext cx="8046720" cy="411480"/>
          </a:xfrm>
          <a:prstGeom prst="rect">
            <a:avLst/>
          </a:prstGeom>
          <a:noFill/>
          <a:ln/>
        </p:spPr>
        <p:txBody>
          <a:bodyPr wrap="square" rtlCol="0" anchor="ctr"/>
          <a:lstStyle/>
          <a:p>
            <a:pPr indent="0" marL="0">
              <a:buNone/>
            </a:pPr>
            <a:r>
              <a:rPr lang="en-US" sz="1400" dirty="0">
                <a:solidFill>
                  <a:srgbClr val="6B7280"/>
                </a:solidFill>
                <a:latin typeface="Arial" pitchFamily="34" charset="0"/>
                <a:ea typeface="Arial" pitchFamily="34" charset="-122"/>
                <a:cs typeface="Arial" pitchFamily="34" charset="-120"/>
              </a:rPr>
              <a:t>Don't rebuild the Trie on every query (too slow, unnecessary). Rebuild periodically — e.g. weekly.</a:t>
            </a:r>
            <a:endParaRPr lang="en-US" sz="1400" dirty="0"/>
          </a:p>
        </p:txBody>
      </p:sp>
      <p:sp>
        <p:nvSpPr>
          <p:cNvPr id="4" name="Shape 2"/>
          <p:cNvSpPr/>
          <p:nvPr/>
        </p:nvSpPr>
        <p:spPr>
          <a:xfrm>
            <a:off x="411480" y="1920240"/>
            <a:ext cx="1481328" cy="914400"/>
          </a:xfrm>
          <a:prstGeom prst="roundRect">
            <a:avLst>
              <a:gd name="adj" fmla="val 10000"/>
            </a:avLst>
          </a:prstGeom>
          <a:solidFill>
            <a:srgbClr val="EAF1FD"/>
          </a:solidFill>
          <a:ln/>
        </p:spPr>
      </p:sp>
      <p:sp>
        <p:nvSpPr>
          <p:cNvPr id="5" name="Text 3"/>
          <p:cNvSpPr/>
          <p:nvPr/>
        </p:nvSpPr>
        <p:spPr>
          <a:xfrm>
            <a:off x="365760" y="1920240"/>
            <a:ext cx="1572768" cy="914400"/>
          </a:xfrm>
          <a:prstGeom prst="rect">
            <a:avLst/>
          </a:prstGeom>
          <a:noFill/>
          <a:ln/>
        </p:spPr>
        <p:txBody>
          <a:bodyPr wrap="square" lIns="0" tIns="0" rIns="0" bIns="0" rtlCol="0" anchor="ctr"/>
          <a:lstStyle/>
          <a:p>
            <a:pPr algn="ctr" indent="0" marL="0">
              <a:buNone/>
            </a:pPr>
            <a:r>
              <a:rPr lang="en-US" sz="1250" b="1" dirty="0">
                <a:solidFill>
                  <a:srgbClr val="1E2761"/>
                </a:solidFill>
                <a:latin typeface="Arial" pitchFamily="34" charset="0"/>
                <a:ea typeface="Arial" pitchFamily="34" charset="-122"/>
                <a:cs typeface="Arial" pitchFamily="34" charset="-120"/>
              </a:rPr>
              <a:t>Analytics Logs</a:t>
            </a:r>
            <a:endParaRPr lang="en-US" sz="1250" dirty="0"/>
          </a:p>
        </p:txBody>
      </p:sp>
      <p:sp>
        <p:nvSpPr>
          <p:cNvPr id="6" name="Text 4"/>
          <p:cNvSpPr/>
          <p:nvPr/>
        </p:nvSpPr>
        <p:spPr>
          <a:xfrm>
            <a:off x="301752" y="2971800"/>
            <a:ext cx="1700784" cy="77724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Raw query records</a:t>
            </a:r>
            <a:endParaRPr lang="en-US" sz="1000" dirty="0"/>
          </a:p>
          <a:p>
            <a:pPr algn="ctr" indent="0" marL="0">
              <a:buNone/>
            </a:pPr>
            <a:r>
              <a:rPr lang="en-US" sz="1000" dirty="0">
                <a:solidFill>
                  <a:srgbClr val="6B7280"/>
                </a:solidFill>
                <a:latin typeface="Arial" pitchFamily="34" charset="0"/>
                <a:ea typeface="Arial" pitchFamily="34" charset="-122"/>
                <a:cs typeface="Arial" pitchFamily="34" charset="-120"/>
              </a:rPr>
              <a:t>(append-only, no index)</a:t>
            </a:r>
            <a:endParaRPr lang="en-US" sz="1000" dirty="0"/>
          </a:p>
        </p:txBody>
      </p:sp>
      <p:sp>
        <p:nvSpPr>
          <p:cNvPr id="7" name="Text 5"/>
          <p:cNvSpPr/>
          <p:nvPr/>
        </p:nvSpPr>
        <p:spPr>
          <a:xfrm>
            <a:off x="1856232" y="1920240"/>
            <a:ext cx="365760" cy="914400"/>
          </a:xfrm>
          <a:prstGeom prst="rect">
            <a:avLst/>
          </a:prstGeom>
          <a:noFill/>
          <a:ln/>
        </p:spPr>
        <p:txBody>
          <a:bodyPr wrap="square" lIns="0" tIns="0" rIns="0" bIns="0" rtlCol="0" anchor="ctr"/>
          <a:lstStyle/>
          <a:p>
            <a:pPr algn="ctr" indent="0" marL="0">
              <a:buNone/>
            </a:pPr>
            <a:r>
              <a:rPr lang="en-US" sz="2000" b="1" dirty="0">
                <a:solidFill>
                  <a:srgbClr val="4A6CF7"/>
                </a:solidFill>
              </a:rPr>
              <a:t>→</a:t>
            </a:r>
            <a:endParaRPr lang="en-US" sz="2000" dirty="0"/>
          </a:p>
        </p:txBody>
      </p:sp>
      <p:sp>
        <p:nvSpPr>
          <p:cNvPr id="8" name="Shape 6"/>
          <p:cNvSpPr/>
          <p:nvPr/>
        </p:nvSpPr>
        <p:spPr>
          <a:xfrm>
            <a:off x="2167128" y="1920240"/>
            <a:ext cx="1481328" cy="914400"/>
          </a:xfrm>
          <a:prstGeom prst="roundRect">
            <a:avLst>
              <a:gd name="adj" fmla="val 10000"/>
            </a:avLst>
          </a:prstGeom>
          <a:solidFill>
            <a:srgbClr val="EAF1FD"/>
          </a:solidFill>
          <a:ln/>
        </p:spPr>
      </p:sp>
      <p:sp>
        <p:nvSpPr>
          <p:cNvPr id="9" name="Text 7"/>
          <p:cNvSpPr/>
          <p:nvPr/>
        </p:nvSpPr>
        <p:spPr>
          <a:xfrm>
            <a:off x="2121408" y="1920240"/>
            <a:ext cx="1572768" cy="914400"/>
          </a:xfrm>
          <a:prstGeom prst="rect">
            <a:avLst/>
          </a:prstGeom>
          <a:noFill/>
          <a:ln/>
        </p:spPr>
        <p:txBody>
          <a:bodyPr wrap="square" lIns="0" tIns="0" rIns="0" bIns="0" rtlCol="0" anchor="ctr"/>
          <a:lstStyle/>
          <a:p>
            <a:pPr algn="ctr" indent="0" marL="0">
              <a:buNone/>
            </a:pPr>
            <a:r>
              <a:rPr lang="en-US" sz="1250" b="1" dirty="0">
                <a:solidFill>
                  <a:srgbClr val="1E2761"/>
                </a:solidFill>
                <a:latin typeface="Arial" pitchFamily="34" charset="0"/>
                <a:ea typeface="Arial" pitchFamily="34" charset="-122"/>
                <a:cs typeface="Arial" pitchFamily="34" charset="-120"/>
              </a:rPr>
              <a:t>Aggregators</a:t>
            </a:r>
            <a:endParaRPr lang="en-US" sz="1250" dirty="0"/>
          </a:p>
        </p:txBody>
      </p:sp>
      <p:sp>
        <p:nvSpPr>
          <p:cNvPr id="10" name="Text 8"/>
          <p:cNvSpPr/>
          <p:nvPr/>
        </p:nvSpPr>
        <p:spPr>
          <a:xfrm>
            <a:off x="2057400" y="2971800"/>
            <a:ext cx="1700784" cy="77724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Sum up frequency</a:t>
            </a:r>
            <a:endParaRPr lang="en-US" sz="1000" dirty="0"/>
          </a:p>
          <a:p>
            <a:pPr algn="ctr" indent="0" marL="0">
              <a:buNone/>
            </a:pPr>
            <a:r>
              <a:rPr lang="en-US" sz="1000" dirty="0">
                <a:solidFill>
                  <a:srgbClr val="6B7280"/>
                </a:solidFill>
                <a:latin typeface="Arial" pitchFamily="34" charset="0"/>
                <a:ea typeface="Arial" pitchFamily="34" charset="-122"/>
                <a:cs typeface="Arial" pitchFamily="34" charset="-120"/>
              </a:rPr>
              <a:t>(one row per week)</a:t>
            </a:r>
            <a:endParaRPr lang="en-US" sz="1000" dirty="0"/>
          </a:p>
        </p:txBody>
      </p:sp>
      <p:sp>
        <p:nvSpPr>
          <p:cNvPr id="11" name="Text 9"/>
          <p:cNvSpPr/>
          <p:nvPr/>
        </p:nvSpPr>
        <p:spPr>
          <a:xfrm>
            <a:off x="3611880" y="1920240"/>
            <a:ext cx="365760" cy="914400"/>
          </a:xfrm>
          <a:prstGeom prst="rect">
            <a:avLst/>
          </a:prstGeom>
          <a:noFill/>
          <a:ln/>
        </p:spPr>
        <p:txBody>
          <a:bodyPr wrap="square" lIns="0" tIns="0" rIns="0" bIns="0" rtlCol="0" anchor="ctr"/>
          <a:lstStyle/>
          <a:p>
            <a:pPr algn="ctr" indent="0" marL="0">
              <a:buNone/>
            </a:pPr>
            <a:r>
              <a:rPr lang="en-US" sz="2000" b="1" dirty="0">
                <a:solidFill>
                  <a:srgbClr val="4A6CF7"/>
                </a:solidFill>
              </a:rPr>
              <a:t>→</a:t>
            </a:r>
            <a:endParaRPr lang="en-US" sz="2000" dirty="0"/>
          </a:p>
        </p:txBody>
      </p:sp>
      <p:sp>
        <p:nvSpPr>
          <p:cNvPr id="12" name="Shape 10"/>
          <p:cNvSpPr/>
          <p:nvPr/>
        </p:nvSpPr>
        <p:spPr>
          <a:xfrm>
            <a:off x="3922776" y="1920240"/>
            <a:ext cx="1481328" cy="914400"/>
          </a:xfrm>
          <a:prstGeom prst="roundRect">
            <a:avLst>
              <a:gd name="adj" fmla="val 10000"/>
            </a:avLst>
          </a:prstGeom>
          <a:solidFill>
            <a:srgbClr val="EAF1FD"/>
          </a:solidFill>
          <a:ln/>
        </p:spPr>
      </p:sp>
      <p:sp>
        <p:nvSpPr>
          <p:cNvPr id="13" name="Text 11"/>
          <p:cNvSpPr/>
          <p:nvPr/>
        </p:nvSpPr>
        <p:spPr>
          <a:xfrm>
            <a:off x="3877056" y="1920240"/>
            <a:ext cx="1572768" cy="914400"/>
          </a:xfrm>
          <a:prstGeom prst="rect">
            <a:avLst/>
          </a:prstGeom>
          <a:noFill/>
          <a:ln/>
        </p:spPr>
        <p:txBody>
          <a:bodyPr wrap="square" lIns="0" tIns="0" rIns="0" bIns="0" rtlCol="0" anchor="ctr"/>
          <a:lstStyle/>
          <a:p>
            <a:pPr algn="ctr" indent="0" marL="0">
              <a:buNone/>
            </a:pPr>
            <a:r>
              <a:rPr lang="en-US" sz="1250" b="1" dirty="0">
                <a:solidFill>
                  <a:srgbClr val="1E2761"/>
                </a:solidFill>
                <a:latin typeface="Arial" pitchFamily="34" charset="0"/>
                <a:ea typeface="Arial" pitchFamily="34" charset="-122"/>
                <a:cs typeface="Arial" pitchFamily="34" charset="-120"/>
              </a:rPr>
              <a:t>Workers</a:t>
            </a:r>
            <a:endParaRPr lang="en-US" sz="1250" dirty="0"/>
          </a:p>
        </p:txBody>
      </p:sp>
      <p:sp>
        <p:nvSpPr>
          <p:cNvPr id="14" name="Text 12"/>
          <p:cNvSpPr/>
          <p:nvPr/>
        </p:nvSpPr>
        <p:spPr>
          <a:xfrm>
            <a:off x="3813048" y="2971800"/>
            <a:ext cx="1700784" cy="77724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Build Trie</a:t>
            </a:r>
            <a:endParaRPr lang="en-US" sz="1000" dirty="0"/>
          </a:p>
          <a:p>
            <a:pPr algn="ctr" indent="0" marL="0">
              <a:buNone/>
            </a:pPr>
            <a:r>
              <a:rPr lang="en-US" sz="1000" dirty="0">
                <a:solidFill>
                  <a:srgbClr val="6B7280"/>
                </a:solidFill>
                <a:latin typeface="Arial" pitchFamily="34" charset="0"/>
                <a:ea typeface="Arial" pitchFamily="34" charset="-122"/>
                <a:cs typeface="Arial" pitchFamily="34" charset="-120"/>
              </a:rPr>
              <a:t>asynchronously</a:t>
            </a:r>
            <a:endParaRPr lang="en-US" sz="1000" dirty="0"/>
          </a:p>
        </p:txBody>
      </p:sp>
      <p:sp>
        <p:nvSpPr>
          <p:cNvPr id="15" name="Text 13"/>
          <p:cNvSpPr/>
          <p:nvPr/>
        </p:nvSpPr>
        <p:spPr>
          <a:xfrm>
            <a:off x="5367528" y="1920240"/>
            <a:ext cx="365760" cy="914400"/>
          </a:xfrm>
          <a:prstGeom prst="rect">
            <a:avLst/>
          </a:prstGeom>
          <a:noFill/>
          <a:ln/>
        </p:spPr>
        <p:txBody>
          <a:bodyPr wrap="square" lIns="0" tIns="0" rIns="0" bIns="0" rtlCol="0" anchor="ctr"/>
          <a:lstStyle/>
          <a:p>
            <a:pPr algn="ctr" indent="0" marL="0">
              <a:buNone/>
            </a:pPr>
            <a:r>
              <a:rPr lang="en-US" sz="2000" b="1" dirty="0">
                <a:solidFill>
                  <a:srgbClr val="4A6CF7"/>
                </a:solidFill>
              </a:rPr>
              <a:t>→</a:t>
            </a:r>
            <a:endParaRPr lang="en-US" sz="2000" dirty="0"/>
          </a:p>
        </p:txBody>
      </p:sp>
      <p:sp>
        <p:nvSpPr>
          <p:cNvPr id="16" name="Shape 14"/>
          <p:cNvSpPr/>
          <p:nvPr/>
        </p:nvSpPr>
        <p:spPr>
          <a:xfrm>
            <a:off x="5678424" y="1920240"/>
            <a:ext cx="1481328" cy="914400"/>
          </a:xfrm>
          <a:prstGeom prst="roundRect">
            <a:avLst>
              <a:gd name="adj" fmla="val 10000"/>
            </a:avLst>
          </a:prstGeom>
          <a:solidFill>
            <a:srgbClr val="1E2761"/>
          </a:solidFill>
          <a:ln/>
        </p:spPr>
      </p:sp>
      <p:sp>
        <p:nvSpPr>
          <p:cNvPr id="17" name="Text 15"/>
          <p:cNvSpPr/>
          <p:nvPr/>
        </p:nvSpPr>
        <p:spPr>
          <a:xfrm>
            <a:off x="5632704" y="1920240"/>
            <a:ext cx="1572768"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Trie DB</a:t>
            </a:r>
            <a:endParaRPr lang="en-US" sz="1250" dirty="0"/>
          </a:p>
        </p:txBody>
      </p:sp>
      <p:sp>
        <p:nvSpPr>
          <p:cNvPr id="18" name="Text 16"/>
          <p:cNvSpPr/>
          <p:nvPr/>
        </p:nvSpPr>
        <p:spPr>
          <a:xfrm>
            <a:off x="5568696" y="2971800"/>
            <a:ext cx="1700784" cy="77724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Persistent storage</a:t>
            </a:r>
            <a:endParaRPr lang="en-US" sz="1000" dirty="0"/>
          </a:p>
          <a:p>
            <a:pPr algn="ctr" indent="0" marL="0">
              <a:buNone/>
            </a:pPr>
            <a:r>
              <a:rPr lang="en-US" sz="1000" dirty="0">
                <a:solidFill>
                  <a:srgbClr val="6B7280"/>
                </a:solidFill>
                <a:latin typeface="Arial" pitchFamily="34" charset="0"/>
                <a:ea typeface="Arial" pitchFamily="34" charset="-122"/>
                <a:cs typeface="Arial" pitchFamily="34" charset="-120"/>
              </a:rPr>
              <a:t>document / key-value</a:t>
            </a:r>
            <a:endParaRPr lang="en-US" sz="1000" dirty="0"/>
          </a:p>
        </p:txBody>
      </p:sp>
      <p:sp>
        <p:nvSpPr>
          <p:cNvPr id="19" name="Text 17"/>
          <p:cNvSpPr/>
          <p:nvPr/>
        </p:nvSpPr>
        <p:spPr>
          <a:xfrm>
            <a:off x="7123176" y="1920240"/>
            <a:ext cx="365760" cy="914400"/>
          </a:xfrm>
          <a:prstGeom prst="rect">
            <a:avLst/>
          </a:prstGeom>
          <a:noFill/>
          <a:ln/>
        </p:spPr>
        <p:txBody>
          <a:bodyPr wrap="square" lIns="0" tIns="0" rIns="0" bIns="0" rtlCol="0" anchor="ctr"/>
          <a:lstStyle/>
          <a:p>
            <a:pPr algn="ctr" indent="0" marL="0">
              <a:buNone/>
            </a:pPr>
            <a:r>
              <a:rPr lang="en-US" sz="2000" b="1" dirty="0">
                <a:solidFill>
                  <a:srgbClr val="4A6CF7"/>
                </a:solidFill>
              </a:rPr>
              <a:t>→</a:t>
            </a:r>
            <a:endParaRPr lang="en-US" sz="2000" dirty="0"/>
          </a:p>
        </p:txBody>
      </p:sp>
      <p:sp>
        <p:nvSpPr>
          <p:cNvPr id="20" name="Shape 18"/>
          <p:cNvSpPr/>
          <p:nvPr/>
        </p:nvSpPr>
        <p:spPr>
          <a:xfrm>
            <a:off x="7434072" y="1920240"/>
            <a:ext cx="1481328" cy="914400"/>
          </a:xfrm>
          <a:prstGeom prst="roundRect">
            <a:avLst>
              <a:gd name="adj" fmla="val 10000"/>
            </a:avLst>
          </a:prstGeom>
          <a:solidFill>
            <a:srgbClr val="1E2761"/>
          </a:solidFill>
          <a:ln/>
        </p:spPr>
      </p:sp>
      <p:sp>
        <p:nvSpPr>
          <p:cNvPr id="21" name="Text 19"/>
          <p:cNvSpPr/>
          <p:nvPr/>
        </p:nvSpPr>
        <p:spPr>
          <a:xfrm>
            <a:off x="7388352" y="1920240"/>
            <a:ext cx="1572768"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Trie Cache</a:t>
            </a:r>
            <a:endParaRPr lang="en-US" sz="1250" dirty="0"/>
          </a:p>
        </p:txBody>
      </p:sp>
      <p:sp>
        <p:nvSpPr>
          <p:cNvPr id="22" name="Text 20"/>
          <p:cNvSpPr/>
          <p:nvPr/>
        </p:nvSpPr>
        <p:spPr>
          <a:xfrm>
            <a:off x="7324344" y="2971800"/>
            <a:ext cx="1700784" cy="77724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In-memory cache</a:t>
            </a:r>
            <a:endParaRPr lang="en-US" sz="1000" dirty="0"/>
          </a:p>
          <a:p>
            <a:pPr algn="ctr" indent="0" marL="0">
              <a:buNone/>
            </a:pPr>
            <a:r>
              <a:rPr lang="en-US" sz="1000" dirty="0">
                <a:solidFill>
                  <a:srgbClr val="6B7280"/>
                </a:solidFill>
                <a:latin typeface="Arial" pitchFamily="34" charset="0"/>
                <a:ea typeface="Arial" pitchFamily="34" charset="-122"/>
                <a:cs typeface="Arial" pitchFamily="34" charset="-120"/>
              </a:rPr>
              <a:t>for fast reads</a:t>
            </a:r>
            <a:endParaRPr lang="en-US" sz="1000" dirty="0"/>
          </a:p>
        </p:txBody>
      </p:sp>
      <p:sp>
        <p:nvSpPr>
          <p:cNvPr id="23" name="Text 21"/>
          <p:cNvSpPr/>
          <p:nvPr/>
        </p:nvSpPr>
        <p:spPr>
          <a:xfrm>
            <a:off x="548640" y="4023360"/>
            <a:ext cx="8046720" cy="640080"/>
          </a:xfrm>
          <a:prstGeom prst="rect">
            <a:avLst/>
          </a:prstGeom>
          <a:noFill/>
          <a:ln/>
        </p:spPr>
        <p:txBody>
          <a:bodyPr wrap="square" rtlCol="0" anchor="ctr"/>
          <a:lstStyle/>
          <a:p>
            <a:pPr marL="342900" indent="-342900">
              <a:buSzPct val="100000"/>
              <a:buChar char="•"/>
            </a:pPr>
            <a:r>
              <a:rPr lang="en-US" sz="1350" dirty="0">
                <a:solidFill>
                  <a:srgbClr val="2B2B2B"/>
                </a:solidFill>
                <a:latin typeface="Arial" pitchFamily="34" charset="0"/>
                <a:ea typeface="Arial" pitchFamily="34" charset="-122"/>
                <a:cs typeface="Arial" pitchFamily="34" charset="-120"/>
              </a:rPr>
              <a:t>Key-value mapping: prefix = key, node's Top K = value  (e.g.  be → [best:35, bet:29, bee:20…])</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800" b="1" dirty="0">
                <a:solidFill>
                  <a:srgbClr val="1E2761"/>
                </a:solidFill>
                <a:latin typeface="Arial" pitchFamily="34" charset="0"/>
                <a:ea typeface="Arial" pitchFamily="34" charset="-122"/>
                <a:cs typeface="Arial" pitchFamily="34" charset="-120"/>
              </a:rPr>
              <a:t>Query Service: Read Path &amp; Speedups</a:t>
            </a:r>
            <a:endParaRPr lang="en-US" sz="2800" dirty="0"/>
          </a:p>
        </p:txBody>
      </p:sp>
      <p:sp>
        <p:nvSpPr>
          <p:cNvPr id="3" name="Shape 1"/>
          <p:cNvSpPr/>
          <p:nvPr/>
        </p:nvSpPr>
        <p:spPr>
          <a:xfrm>
            <a:off x="411480" y="1234440"/>
            <a:ext cx="1481328" cy="731520"/>
          </a:xfrm>
          <a:prstGeom prst="roundRect">
            <a:avLst>
              <a:gd name="adj" fmla="val 12500"/>
            </a:avLst>
          </a:prstGeom>
          <a:solidFill>
            <a:srgbClr val="EAF1FD"/>
          </a:solidFill>
          <a:ln/>
        </p:spPr>
      </p:sp>
      <p:sp>
        <p:nvSpPr>
          <p:cNvPr id="4" name="Text 2"/>
          <p:cNvSpPr/>
          <p:nvPr/>
        </p:nvSpPr>
        <p:spPr>
          <a:xfrm>
            <a:off x="365760" y="1234440"/>
            <a:ext cx="1572768" cy="731520"/>
          </a:xfrm>
          <a:prstGeom prst="rect">
            <a:avLst/>
          </a:prstGeom>
          <a:noFill/>
          <a:ln/>
        </p:spPr>
        <p:txBody>
          <a:bodyPr wrap="square" lIns="0" tIns="0" rIns="0" bIns="0" rtlCol="0" anchor="ctr"/>
          <a:lstStyle/>
          <a:p>
            <a:pPr algn="ctr" indent="0" marL="0">
              <a:buNone/>
            </a:pPr>
            <a:r>
              <a:rPr lang="en-US" sz="1250" b="1" dirty="0">
                <a:solidFill>
                  <a:srgbClr val="1E2761"/>
                </a:solidFill>
                <a:latin typeface="Arial" pitchFamily="34" charset="0"/>
                <a:ea typeface="Arial" pitchFamily="34" charset="-122"/>
                <a:cs typeface="Arial" pitchFamily="34" charset="-120"/>
              </a:rPr>
              <a:t>User</a:t>
            </a:r>
            <a:endParaRPr lang="en-US" sz="1250" dirty="0"/>
          </a:p>
        </p:txBody>
      </p:sp>
      <p:sp>
        <p:nvSpPr>
          <p:cNvPr id="5" name="Text 3"/>
          <p:cNvSpPr/>
          <p:nvPr/>
        </p:nvSpPr>
        <p:spPr>
          <a:xfrm>
            <a:off x="1856232" y="1234440"/>
            <a:ext cx="365760" cy="731520"/>
          </a:xfrm>
          <a:prstGeom prst="rect">
            <a:avLst/>
          </a:prstGeom>
          <a:noFill/>
          <a:ln/>
        </p:spPr>
        <p:txBody>
          <a:bodyPr wrap="square" lIns="0" tIns="0" rIns="0" bIns="0" rtlCol="0" anchor="ctr"/>
          <a:lstStyle/>
          <a:p>
            <a:pPr algn="ctr" indent="0" marL="0">
              <a:buNone/>
            </a:pPr>
            <a:r>
              <a:rPr lang="en-US" sz="1800" b="1" dirty="0">
                <a:solidFill>
                  <a:srgbClr val="4A6CF7"/>
                </a:solidFill>
              </a:rPr>
              <a:t>→</a:t>
            </a:r>
            <a:endParaRPr lang="en-US" sz="1800" dirty="0"/>
          </a:p>
        </p:txBody>
      </p:sp>
      <p:sp>
        <p:nvSpPr>
          <p:cNvPr id="6" name="Shape 4"/>
          <p:cNvSpPr/>
          <p:nvPr/>
        </p:nvSpPr>
        <p:spPr>
          <a:xfrm>
            <a:off x="2167128" y="1234440"/>
            <a:ext cx="1481328" cy="731520"/>
          </a:xfrm>
          <a:prstGeom prst="roundRect">
            <a:avLst>
              <a:gd name="adj" fmla="val 12500"/>
            </a:avLst>
          </a:prstGeom>
          <a:solidFill>
            <a:srgbClr val="EAF1FD"/>
          </a:solidFill>
          <a:ln/>
        </p:spPr>
      </p:sp>
      <p:sp>
        <p:nvSpPr>
          <p:cNvPr id="7" name="Text 5"/>
          <p:cNvSpPr/>
          <p:nvPr/>
        </p:nvSpPr>
        <p:spPr>
          <a:xfrm>
            <a:off x="2121408" y="1234440"/>
            <a:ext cx="1572768" cy="731520"/>
          </a:xfrm>
          <a:prstGeom prst="rect">
            <a:avLst/>
          </a:prstGeom>
          <a:noFill/>
          <a:ln/>
        </p:spPr>
        <p:txBody>
          <a:bodyPr wrap="square" lIns="0" tIns="0" rIns="0" bIns="0" rtlCol="0" anchor="ctr"/>
          <a:lstStyle/>
          <a:p>
            <a:pPr algn="ctr" indent="0" marL="0">
              <a:buNone/>
            </a:pPr>
            <a:r>
              <a:rPr lang="en-US" sz="1250" b="1" dirty="0">
                <a:solidFill>
                  <a:srgbClr val="1E2761"/>
                </a:solidFill>
                <a:latin typeface="Arial" pitchFamily="34" charset="0"/>
                <a:ea typeface="Arial" pitchFamily="34" charset="-122"/>
                <a:cs typeface="Arial" pitchFamily="34" charset="-120"/>
              </a:rPr>
              <a:t>Load Balancer</a:t>
            </a:r>
            <a:endParaRPr lang="en-US" sz="1250" dirty="0"/>
          </a:p>
        </p:txBody>
      </p:sp>
      <p:sp>
        <p:nvSpPr>
          <p:cNvPr id="8" name="Text 6"/>
          <p:cNvSpPr/>
          <p:nvPr/>
        </p:nvSpPr>
        <p:spPr>
          <a:xfrm>
            <a:off x="3611880" y="1234440"/>
            <a:ext cx="365760" cy="731520"/>
          </a:xfrm>
          <a:prstGeom prst="rect">
            <a:avLst/>
          </a:prstGeom>
          <a:noFill/>
          <a:ln/>
        </p:spPr>
        <p:txBody>
          <a:bodyPr wrap="square" lIns="0" tIns="0" rIns="0" bIns="0" rtlCol="0" anchor="ctr"/>
          <a:lstStyle/>
          <a:p>
            <a:pPr algn="ctr" indent="0" marL="0">
              <a:buNone/>
            </a:pPr>
            <a:r>
              <a:rPr lang="en-US" sz="1800" b="1" dirty="0">
                <a:solidFill>
                  <a:srgbClr val="4A6CF7"/>
                </a:solidFill>
              </a:rPr>
              <a:t>→</a:t>
            </a:r>
            <a:endParaRPr lang="en-US" sz="1800" dirty="0"/>
          </a:p>
        </p:txBody>
      </p:sp>
      <p:sp>
        <p:nvSpPr>
          <p:cNvPr id="9" name="Shape 7"/>
          <p:cNvSpPr/>
          <p:nvPr/>
        </p:nvSpPr>
        <p:spPr>
          <a:xfrm>
            <a:off x="3922776" y="1234440"/>
            <a:ext cx="1481328" cy="731520"/>
          </a:xfrm>
          <a:prstGeom prst="roundRect">
            <a:avLst>
              <a:gd name="adj" fmla="val 12500"/>
            </a:avLst>
          </a:prstGeom>
          <a:solidFill>
            <a:srgbClr val="EAF1FD"/>
          </a:solidFill>
          <a:ln/>
        </p:spPr>
      </p:sp>
      <p:sp>
        <p:nvSpPr>
          <p:cNvPr id="10" name="Text 8"/>
          <p:cNvSpPr/>
          <p:nvPr/>
        </p:nvSpPr>
        <p:spPr>
          <a:xfrm>
            <a:off x="3877056" y="1234440"/>
            <a:ext cx="1572768" cy="731520"/>
          </a:xfrm>
          <a:prstGeom prst="rect">
            <a:avLst/>
          </a:prstGeom>
          <a:noFill/>
          <a:ln/>
        </p:spPr>
        <p:txBody>
          <a:bodyPr wrap="square" lIns="0" tIns="0" rIns="0" bIns="0" rtlCol="0" anchor="ctr"/>
          <a:lstStyle/>
          <a:p>
            <a:pPr algn="ctr" indent="0" marL="0">
              <a:buNone/>
            </a:pPr>
            <a:r>
              <a:rPr lang="en-US" sz="1250" b="1" dirty="0">
                <a:solidFill>
                  <a:srgbClr val="1E2761"/>
                </a:solidFill>
                <a:latin typeface="Arial" pitchFamily="34" charset="0"/>
                <a:ea typeface="Arial" pitchFamily="34" charset="-122"/>
                <a:cs typeface="Arial" pitchFamily="34" charset="-120"/>
              </a:rPr>
              <a:t>API Servers</a:t>
            </a:r>
            <a:endParaRPr lang="en-US" sz="1250" dirty="0"/>
          </a:p>
        </p:txBody>
      </p:sp>
      <p:sp>
        <p:nvSpPr>
          <p:cNvPr id="11" name="Text 9"/>
          <p:cNvSpPr/>
          <p:nvPr/>
        </p:nvSpPr>
        <p:spPr>
          <a:xfrm>
            <a:off x="5367528" y="1234440"/>
            <a:ext cx="365760" cy="731520"/>
          </a:xfrm>
          <a:prstGeom prst="rect">
            <a:avLst/>
          </a:prstGeom>
          <a:noFill/>
          <a:ln/>
        </p:spPr>
        <p:txBody>
          <a:bodyPr wrap="square" lIns="0" tIns="0" rIns="0" bIns="0" rtlCol="0" anchor="ctr"/>
          <a:lstStyle/>
          <a:p>
            <a:pPr algn="ctr" indent="0" marL="0">
              <a:buNone/>
            </a:pPr>
            <a:r>
              <a:rPr lang="en-US" sz="1800" b="1" dirty="0">
                <a:solidFill>
                  <a:srgbClr val="4A6CF7"/>
                </a:solidFill>
              </a:rPr>
              <a:t>→</a:t>
            </a:r>
            <a:endParaRPr lang="en-US" sz="1800" dirty="0"/>
          </a:p>
        </p:txBody>
      </p:sp>
      <p:sp>
        <p:nvSpPr>
          <p:cNvPr id="12" name="Shape 10"/>
          <p:cNvSpPr/>
          <p:nvPr/>
        </p:nvSpPr>
        <p:spPr>
          <a:xfrm>
            <a:off x="5678424" y="1234440"/>
            <a:ext cx="1481328" cy="731520"/>
          </a:xfrm>
          <a:prstGeom prst="roundRect">
            <a:avLst>
              <a:gd name="adj" fmla="val 12500"/>
            </a:avLst>
          </a:prstGeom>
          <a:solidFill>
            <a:srgbClr val="1E2761"/>
          </a:solidFill>
          <a:ln/>
        </p:spPr>
      </p:sp>
      <p:sp>
        <p:nvSpPr>
          <p:cNvPr id="13" name="Text 11"/>
          <p:cNvSpPr/>
          <p:nvPr/>
        </p:nvSpPr>
        <p:spPr>
          <a:xfrm>
            <a:off x="5632704" y="1234440"/>
            <a:ext cx="1572768" cy="73152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Trie Cache</a:t>
            </a:r>
            <a:endParaRPr lang="en-US" sz="1250" dirty="0"/>
          </a:p>
        </p:txBody>
      </p:sp>
      <p:sp>
        <p:nvSpPr>
          <p:cNvPr id="14" name="Text 12"/>
          <p:cNvSpPr/>
          <p:nvPr/>
        </p:nvSpPr>
        <p:spPr>
          <a:xfrm>
            <a:off x="7123176" y="1234440"/>
            <a:ext cx="365760" cy="731520"/>
          </a:xfrm>
          <a:prstGeom prst="rect">
            <a:avLst/>
          </a:prstGeom>
          <a:noFill/>
          <a:ln/>
        </p:spPr>
        <p:txBody>
          <a:bodyPr wrap="square" lIns="0" tIns="0" rIns="0" bIns="0" rtlCol="0" anchor="ctr"/>
          <a:lstStyle/>
          <a:p>
            <a:pPr algn="ctr" indent="0" marL="0">
              <a:buNone/>
            </a:pPr>
            <a:r>
              <a:rPr lang="en-US" sz="1800" b="1" dirty="0">
                <a:solidFill>
                  <a:srgbClr val="4A6CF7"/>
                </a:solidFill>
              </a:rPr>
              <a:t>→</a:t>
            </a:r>
            <a:endParaRPr lang="en-US" sz="1800" dirty="0"/>
          </a:p>
        </p:txBody>
      </p:sp>
      <p:sp>
        <p:nvSpPr>
          <p:cNvPr id="15" name="Shape 13"/>
          <p:cNvSpPr/>
          <p:nvPr/>
        </p:nvSpPr>
        <p:spPr>
          <a:xfrm>
            <a:off x="7434072" y="1234440"/>
            <a:ext cx="1481328" cy="731520"/>
          </a:xfrm>
          <a:prstGeom prst="roundRect">
            <a:avLst>
              <a:gd name="adj" fmla="val 12500"/>
            </a:avLst>
          </a:prstGeom>
          <a:solidFill>
            <a:srgbClr val="EAF1FD"/>
          </a:solidFill>
          <a:ln/>
        </p:spPr>
      </p:sp>
      <p:sp>
        <p:nvSpPr>
          <p:cNvPr id="16" name="Text 14"/>
          <p:cNvSpPr/>
          <p:nvPr/>
        </p:nvSpPr>
        <p:spPr>
          <a:xfrm>
            <a:off x="7388352" y="1234440"/>
            <a:ext cx="1572768" cy="731520"/>
          </a:xfrm>
          <a:prstGeom prst="rect">
            <a:avLst/>
          </a:prstGeom>
          <a:noFill/>
          <a:ln/>
        </p:spPr>
        <p:txBody>
          <a:bodyPr wrap="square" lIns="0" tIns="0" rIns="0" bIns="0" rtlCol="0" anchor="ctr"/>
          <a:lstStyle/>
          <a:p>
            <a:pPr algn="ctr" indent="0" marL="0">
              <a:buNone/>
            </a:pPr>
            <a:r>
              <a:rPr lang="en-US" sz="1250" b="1" dirty="0">
                <a:solidFill>
                  <a:srgbClr val="1E2761"/>
                </a:solidFill>
                <a:latin typeface="Arial" pitchFamily="34" charset="0"/>
                <a:ea typeface="Arial" pitchFamily="34" charset="-122"/>
                <a:cs typeface="Arial" pitchFamily="34" charset="-120"/>
              </a:rPr>
              <a:t>Trie DB</a:t>
            </a:r>
            <a:endParaRPr lang="en-US" sz="1250" dirty="0"/>
          </a:p>
        </p:txBody>
      </p:sp>
      <p:sp>
        <p:nvSpPr>
          <p:cNvPr id="17" name="Text 15"/>
          <p:cNvSpPr/>
          <p:nvPr/>
        </p:nvSpPr>
        <p:spPr>
          <a:xfrm>
            <a:off x="457200" y="2057400"/>
            <a:ext cx="8229600" cy="320040"/>
          </a:xfrm>
          <a:prstGeom prst="rect">
            <a:avLst/>
          </a:prstGeom>
          <a:noFill/>
          <a:ln/>
        </p:spPr>
        <p:txBody>
          <a:bodyPr wrap="square" rtlCol="0" anchor="ctr"/>
          <a:lstStyle/>
          <a:p>
            <a:pPr algn="ctr" indent="0" marL="0">
              <a:buNone/>
            </a:pPr>
            <a:r>
              <a:rPr lang="en-US" sz="1200" i="1" dirty="0">
                <a:solidFill>
                  <a:srgbClr val="6B7280"/>
                </a:solidFill>
                <a:latin typeface="Arial" pitchFamily="34" charset="0"/>
                <a:ea typeface="Arial" pitchFamily="34" charset="-122"/>
                <a:cs typeface="Arial" pitchFamily="34" charset="-120"/>
              </a:rPr>
              <a:t>On cache miss, fall back to Trie DB and backfill the cache</a:t>
            </a:r>
            <a:endParaRPr lang="en-US" sz="1200" dirty="0"/>
          </a:p>
        </p:txBody>
      </p:sp>
      <p:sp>
        <p:nvSpPr>
          <p:cNvPr id="18" name="Shape 16"/>
          <p:cNvSpPr/>
          <p:nvPr/>
        </p:nvSpPr>
        <p:spPr>
          <a:xfrm>
            <a:off x="640080" y="2606040"/>
            <a:ext cx="502920" cy="502920"/>
          </a:xfrm>
          <a:prstGeom prst="ellipse">
            <a:avLst/>
          </a:prstGeom>
          <a:solidFill>
            <a:srgbClr val="EAF1FD"/>
          </a:solidFill>
          <a:ln/>
        </p:spPr>
      </p:sp>
      <p:pic>
        <p:nvPicPr>
          <p:cNvPr id="19" name="Image 0" descr="preencoded.png">    </p:cNvPr>
          <p:cNvPicPr>
            <a:picLocks noChangeAspect="1"/>
          </p:cNvPicPr>
          <p:nvPr/>
        </p:nvPicPr>
        <p:blipFill>
          <a:blip r:embed="rId1"/>
          <a:stretch>
            <a:fillRect/>
          </a:stretch>
        </p:blipFill>
        <p:spPr>
          <a:xfrm>
            <a:off x="765810" y="2731770"/>
            <a:ext cx="251460" cy="251460"/>
          </a:xfrm>
          <a:prstGeom prst="rect">
            <a:avLst/>
          </a:prstGeom>
        </p:spPr>
      </p:pic>
      <p:sp>
        <p:nvSpPr>
          <p:cNvPr id="20" name="Text 17"/>
          <p:cNvSpPr/>
          <p:nvPr/>
        </p:nvSpPr>
        <p:spPr>
          <a:xfrm>
            <a:off x="1325880" y="2587752"/>
            <a:ext cx="2194560" cy="548640"/>
          </a:xfrm>
          <a:prstGeom prst="rect">
            <a:avLst/>
          </a:prstGeom>
          <a:noFill/>
          <a:ln/>
        </p:spPr>
        <p:txBody>
          <a:bodyPr wrap="square" rtlCol="0" anchor="ctr"/>
          <a:lstStyle/>
          <a:p>
            <a:pPr indent="0" marL="0">
              <a:buNone/>
            </a:pPr>
            <a:r>
              <a:rPr lang="en-US" sz="1600" b="1" dirty="0">
                <a:solidFill>
                  <a:srgbClr val="1E2761"/>
                </a:solidFill>
                <a:latin typeface="Arial" pitchFamily="34" charset="0"/>
                <a:ea typeface="Arial" pitchFamily="34" charset="-122"/>
                <a:cs typeface="Arial" pitchFamily="34" charset="-120"/>
              </a:rPr>
              <a:t>AJAX requests</a:t>
            </a:r>
            <a:endParaRPr lang="en-US" sz="1600" dirty="0"/>
          </a:p>
        </p:txBody>
      </p:sp>
      <p:sp>
        <p:nvSpPr>
          <p:cNvPr id="21" name="Text 18"/>
          <p:cNvSpPr/>
          <p:nvPr/>
        </p:nvSpPr>
        <p:spPr>
          <a:xfrm>
            <a:off x="3566160" y="2587752"/>
            <a:ext cx="5120640" cy="548640"/>
          </a:xfrm>
          <a:prstGeom prst="rect">
            <a:avLst/>
          </a:prstGeom>
          <a:noFill/>
          <a:ln/>
        </p:spPr>
        <p:txBody>
          <a:bodyPr wrap="square" rtlCol="0" anchor="ctr"/>
          <a:lstStyle/>
          <a:p>
            <a:pPr indent="0" marL="0">
              <a:buNone/>
            </a:pPr>
            <a:r>
              <a:rPr lang="en-US" sz="1300" dirty="0">
                <a:solidFill>
                  <a:srgbClr val="2B2B2B"/>
                </a:solidFill>
                <a:latin typeface="Arial" pitchFamily="34" charset="0"/>
                <a:ea typeface="Arial" pitchFamily="34" charset="-122"/>
                <a:cs typeface="Arial" pitchFamily="34" charset="-120"/>
              </a:rPr>
              <a:t>Send/receive without reloading the whole page</a:t>
            </a:r>
            <a:endParaRPr lang="en-US" sz="1300" dirty="0"/>
          </a:p>
        </p:txBody>
      </p:sp>
      <p:sp>
        <p:nvSpPr>
          <p:cNvPr id="22" name="Shape 19"/>
          <p:cNvSpPr/>
          <p:nvPr/>
        </p:nvSpPr>
        <p:spPr>
          <a:xfrm>
            <a:off x="640080" y="3383280"/>
            <a:ext cx="502920" cy="502920"/>
          </a:xfrm>
          <a:prstGeom prst="ellipse">
            <a:avLst/>
          </a:prstGeom>
          <a:solidFill>
            <a:srgbClr val="EAF1FD"/>
          </a:solidFill>
          <a:ln/>
        </p:spPr>
      </p:sp>
      <p:pic>
        <p:nvPicPr>
          <p:cNvPr id="23" name="Image 1" descr="preencoded.png">    </p:cNvPr>
          <p:cNvPicPr>
            <a:picLocks noChangeAspect="1"/>
          </p:cNvPicPr>
          <p:nvPr/>
        </p:nvPicPr>
        <p:blipFill>
          <a:blip r:embed="rId2"/>
          <a:stretch>
            <a:fillRect/>
          </a:stretch>
        </p:blipFill>
        <p:spPr>
          <a:xfrm>
            <a:off x="765810" y="3509010"/>
            <a:ext cx="251460" cy="251460"/>
          </a:xfrm>
          <a:prstGeom prst="rect">
            <a:avLst/>
          </a:prstGeom>
        </p:spPr>
      </p:pic>
      <p:sp>
        <p:nvSpPr>
          <p:cNvPr id="24" name="Text 20"/>
          <p:cNvSpPr/>
          <p:nvPr/>
        </p:nvSpPr>
        <p:spPr>
          <a:xfrm>
            <a:off x="1325880" y="3364992"/>
            <a:ext cx="2194560" cy="548640"/>
          </a:xfrm>
          <a:prstGeom prst="rect">
            <a:avLst/>
          </a:prstGeom>
          <a:noFill/>
          <a:ln/>
        </p:spPr>
        <p:txBody>
          <a:bodyPr wrap="square" rtlCol="0" anchor="ctr"/>
          <a:lstStyle/>
          <a:p>
            <a:pPr indent="0" marL="0">
              <a:buNone/>
            </a:pPr>
            <a:r>
              <a:rPr lang="en-US" sz="1600" b="1" dirty="0">
                <a:solidFill>
                  <a:srgbClr val="1E2761"/>
                </a:solidFill>
                <a:latin typeface="Arial" pitchFamily="34" charset="0"/>
                <a:ea typeface="Arial" pitchFamily="34" charset="-122"/>
                <a:cs typeface="Arial" pitchFamily="34" charset="-120"/>
              </a:rPr>
              <a:t>Browser caching</a:t>
            </a:r>
            <a:endParaRPr lang="en-US" sz="1600" dirty="0"/>
          </a:p>
        </p:txBody>
      </p:sp>
      <p:sp>
        <p:nvSpPr>
          <p:cNvPr id="25" name="Text 21"/>
          <p:cNvSpPr/>
          <p:nvPr/>
        </p:nvSpPr>
        <p:spPr>
          <a:xfrm>
            <a:off x="3566160" y="3364992"/>
            <a:ext cx="5120640" cy="548640"/>
          </a:xfrm>
          <a:prstGeom prst="rect">
            <a:avLst/>
          </a:prstGeom>
          <a:noFill/>
          <a:ln/>
        </p:spPr>
        <p:txBody>
          <a:bodyPr wrap="square" rtlCol="0" anchor="ctr"/>
          <a:lstStyle/>
          <a:p>
            <a:pPr indent="0" marL="0">
              <a:buNone/>
            </a:pPr>
            <a:r>
              <a:rPr lang="en-US" sz="1300" dirty="0">
                <a:solidFill>
                  <a:srgbClr val="2B2B2B"/>
                </a:solidFill>
                <a:latin typeface="Arial" pitchFamily="34" charset="0"/>
                <a:ea typeface="Arial" pitchFamily="34" charset="-122"/>
                <a:cs typeface="Arial" pitchFamily="34" charset="-120"/>
              </a:rPr>
              <a:t>Suggestions change little; cache client-side (Google caches 1 hour)</a:t>
            </a:r>
            <a:endParaRPr lang="en-US" sz="1300" dirty="0"/>
          </a:p>
        </p:txBody>
      </p:sp>
      <p:sp>
        <p:nvSpPr>
          <p:cNvPr id="26" name="Shape 22"/>
          <p:cNvSpPr/>
          <p:nvPr/>
        </p:nvSpPr>
        <p:spPr>
          <a:xfrm>
            <a:off x="640080" y="4160520"/>
            <a:ext cx="502920" cy="502920"/>
          </a:xfrm>
          <a:prstGeom prst="ellipse">
            <a:avLst/>
          </a:prstGeom>
          <a:solidFill>
            <a:srgbClr val="EAF1FD"/>
          </a:solidFill>
          <a:ln/>
        </p:spPr>
      </p:sp>
      <p:pic>
        <p:nvPicPr>
          <p:cNvPr id="27" name="Image 2" descr="preencoded.png">    </p:cNvPr>
          <p:cNvPicPr>
            <a:picLocks noChangeAspect="1"/>
          </p:cNvPicPr>
          <p:nvPr/>
        </p:nvPicPr>
        <p:blipFill>
          <a:blip r:embed="rId3"/>
          <a:stretch>
            <a:fillRect/>
          </a:stretch>
        </p:blipFill>
        <p:spPr>
          <a:xfrm>
            <a:off x="765810" y="4286250"/>
            <a:ext cx="251460" cy="251460"/>
          </a:xfrm>
          <a:prstGeom prst="rect">
            <a:avLst/>
          </a:prstGeom>
        </p:spPr>
      </p:pic>
      <p:sp>
        <p:nvSpPr>
          <p:cNvPr id="28" name="Text 23"/>
          <p:cNvSpPr/>
          <p:nvPr/>
        </p:nvSpPr>
        <p:spPr>
          <a:xfrm>
            <a:off x="1325880" y="4142232"/>
            <a:ext cx="2194560" cy="548640"/>
          </a:xfrm>
          <a:prstGeom prst="rect">
            <a:avLst/>
          </a:prstGeom>
          <a:noFill/>
          <a:ln/>
        </p:spPr>
        <p:txBody>
          <a:bodyPr wrap="square" rtlCol="0" anchor="ctr"/>
          <a:lstStyle/>
          <a:p>
            <a:pPr indent="0" marL="0">
              <a:buNone/>
            </a:pPr>
            <a:r>
              <a:rPr lang="en-US" sz="1600" b="1" dirty="0">
                <a:solidFill>
                  <a:srgbClr val="1E2761"/>
                </a:solidFill>
                <a:latin typeface="Arial" pitchFamily="34" charset="0"/>
                <a:ea typeface="Arial" pitchFamily="34" charset="-122"/>
                <a:cs typeface="Arial" pitchFamily="34" charset="-120"/>
              </a:rPr>
              <a:t>Data sampling</a:t>
            </a:r>
            <a:endParaRPr lang="en-US" sz="1600" dirty="0"/>
          </a:p>
        </p:txBody>
      </p:sp>
      <p:sp>
        <p:nvSpPr>
          <p:cNvPr id="29" name="Text 24"/>
          <p:cNvSpPr/>
          <p:nvPr/>
        </p:nvSpPr>
        <p:spPr>
          <a:xfrm>
            <a:off x="3566160" y="4142232"/>
            <a:ext cx="5120640" cy="548640"/>
          </a:xfrm>
          <a:prstGeom prst="rect">
            <a:avLst/>
          </a:prstGeom>
          <a:noFill/>
          <a:ln/>
        </p:spPr>
        <p:txBody>
          <a:bodyPr wrap="square" rtlCol="0" anchor="ctr"/>
          <a:lstStyle/>
          <a:p>
            <a:pPr indent="0" marL="0">
              <a:buNone/>
            </a:pPr>
            <a:r>
              <a:rPr lang="en-US" sz="1300" dirty="0">
                <a:solidFill>
                  <a:srgbClr val="2B2B2B"/>
                </a:solidFill>
                <a:latin typeface="Arial" pitchFamily="34" charset="0"/>
                <a:ea typeface="Arial" pitchFamily="34" charset="-122"/>
                <a:cs typeface="Arial" pitchFamily="34" charset="-120"/>
              </a:rPr>
              <a:t>Don't log every query — e.g. log 1 in N to save compute &amp; storage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800" b="1" dirty="0">
                <a:solidFill>
                  <a:srgbClr val="1E2761"/>
                </a:solidFill>
                <a:latin typeface="Arial" pitchFamily="34" charset="0"/>
                <a:ea typeface="Arial" pitchFamily="34" charset="-122"/>
                <a:cs typeface="Arial" pitchFamily="34" charset="-120"/>
              </a:rPr>
              <a:t>Trie Operations &amp; Content Filtering</a:t>
            </a:r>
            <a:endParaRPr lang="en-US" sz="2800" dirty="0"/>
          </a:p>
        </p:txBody>
      </p:sp>
      <p:sp>
        <p:nvSpPr>
          <p:cNvPr id="3" name="Shape 1"/>
          <p:cNvSpPr/>
          <p:nvPr/>
        </p:nvSpPr>
        <p:spPr>
          <a:xfrm>
            <a:off x="502920" y="1234440"/>
            <a:ext cx="8138160" cy="868680"/>
          </a:xfrm>
          <a:prstGeom prst="roundRect">
            <a:avLst>
              <a:gd name="adj" fmla="val 10526"/>
            </a:avLst>
          </a:prstGeom>
          <a:solidFill>
            <a:srgbClr val="EAF1FD"/>
          </a:solidFill>
          <a:ln/>
        </p:spPr>
      </p:sp>
      <p:sp>
        <p:nvSpPr>
          <p:cNvPr id="4" name="Shape 2"/>
          <p:cNvSpPr/>
          <p:nvPr/>
        </p:nvSpPr>
        <p:spPr>
          <a:xfrm>
            <a:off x="777240" y="1417320"/>
            <a:ext cx="502920" cy="502920"/>
          </a:xfrm>
          <a:prstGeom prst="ellipse">
            <a:avLst/>
          </a:prstGeom>
          <a:solidFill>
            <a:srgbClr val="FFFFFF"/>
          </a:solidFill>
          <a:ln/>
        </p:spPr>
      </p:sp>
      <p:pic>
        <p:nvPicPr>
          <p:cNvPr id="5" name="Image 0" descr="preencoded.png">    </p:cNvPr>
          <p:cNvPicPr>
            <a:picLocks noChangeAspect="1"/>
          </p:cNvPicPr>
          <p:nvPr/>
        </p:nvPicPr>
        <p:blipFill>
          <a:blip r:embed="rId1"/>
          <a:stretch>
            <a:fillRect/>
          </a:stretch>
        </p:blipFill>
        <p:spPr>
          <a:xfrm>
            <a:off x="902970" y="1543050"/>
            <a:ext cx="251460" cy="251460"/>
          </a:xfrm>
          <a:prstGeom prst="rect">
            <a:avLst/>
          </a:prstGeom>
        </p:spPr>
      </p:pic>
      <p:sp>
        <p:nvSpPr>
          <p:cNvPr id="6" name="Text 3"/>
          <p:cNvSpPr/>
          <p:nvPr/>
        </p:nvSpPr>
        <p:spPr>
          <a:xfrm>
            <a:off x="1463040" y="1234440"/>
            <a:ext cx="1188720" cy="868680"/>
          </a:xfrm>
          <a:prstGeom prst="rect">
            <a:avLst/>
          </a:prstGeom>
          <a:noFill/>
          <a:ln/>
        </p:spPr>
        <p:txBody>
          <a:bodyPr wrap="square" rtlCol="0" anchor="ctr"/>
          <a:lstStyle/>
          <a:p>
            <a:pPr indent="0" marL="0">
              <a:buNone/>
            </a:pPr>
            <a:r>
              <a:rPr lang="en-US" sz="1700" b="1" dirty="0">
                <a:solidFill>
                  <a:srgbClr val="1E2761"/>
                </a:solidFill>
                <a:latin typeface="Arial" pitchFamily="34" charset="0"/>
                <a:ea typeface="Arial" pitchFamily="34" charset="-122"/>
                <a:cs typeface="Arial" pitchFamily="34" charset="-120"/>
              </a:rPr>
              <a:t>Create</a:t>
            </a:r>
            <a:endParaRPr lang="en-US" sz="1700" dirty="0"/>
          </a:p>
        </p:txBody>
      </p:sp>
      <p:sp>
        <p:nvSpPr>
          <p:cNvPr id="7" name="Text 4"/>
          <p:cNvSpPr/>
          <p:nvPr/>
        </p:nvSpPr>
        <p:spPr>
          <a:xfrm>
            <a:off x="2743200" y="1325880"/>
            <a:ext cx="5669280" cy="685800"/>
          </a:xfrm>
          <a:prstGeom prst="rect">
            <a:avLst/>
          </a:prstGeom>
          <a:noFill/>
          <a:ln/>
        </p:spPr>
        <p:txBody>
          <a:bodyPr wrap="square" rtlCol="0" anchor="ctr"/>
          <a:lstStyle/>
          <a:p>
            <a:pPr indent="0" marL="0">
              <a:buNone/>
            </a:pPr>
            <a:r>
              <a:rPr lang="en-US" sz="1250" dirty="0">
                <a:solidFill>
                  <a:srgbClr val="2B2B2B"/>
                </a:solidFill>
                <a:latin typeface="Arial" pitchFamily="34" charset="0"/>
                <a:ea typeface="Arial" pitchFamily="34" charset="-122"/>
                <a:cs typeface="Arial" pitchFamily="34" charset="-120"/>
              </a:rPr>
              <a:t>Workers build the Trie from aggregated data; source is the analytics logs</a:t>
            </a:r>
            <a:endParaRPr lang="en-US" sz="1250" dirty="0"/>
          </a:p>
        </p:txBody>
      </p:sp>
      <p:sp>
        <p:nvSpPr>
          <p:cNvPr id="8" name="Shape 5"/>
          <p:cNvSpPr/>
          <p:nvPr/>
        </p:nvSpPr>
        <p:spPr>
          <a:xfrm>
            <a:off x="502920" y="2331720"/>
            <a:ext cx="8138160" cy="1234440"/>
          </a:xfrm>
          <a:prstGeom prst="roundRect">
            <a:avLst>
              <a:gd name="adj" fmla="val 7407"/>
            </a:avLst>
          </a:prstGeom>
          <a:solidFill>
            <a:srgbClr val="EAF1FD"/>
          </a:solidFill>
          <a:ln/>
        </p:spPr>
      </p:sp>
      <p:sp>
        <p:nvSpPr>
          <p:cNvPr id="9" name="Shape 6"/>
          <p:cNvSpPr/>
          <p:nvPr/>
        </p:nvSpPr>
        <p:spPr>
          <a:xfrm>
            <a:off x="777240" y="2697480"/>
            <a:ext cx="502920" cy="502920"/>
          </a:xfrm>
          <a:prstGeom prst="ellipse">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902970" y="2823210"/>
            <a:ext cx="251460" cy="251460"/>
          </a:xfrm>
          <a:prstGeom prst="rect">
            <a:avLst/>
          </a:prstGeom>
        </p:spPr>
      </p:pic>
      <p:sp>
        <p:nvSpPr>
          <p:cNvPr id="11" name="Text 7"/>
          <p:cNvSpPr/>
          <p:nvPr/>
        </p:nvSpPr>
        <p:spPr>
          <a:xfrm>
            <a:off x="1463040" y="2331720"/>
            <a:ext cx="1188720" cy="1234440"/>
          </a:xfrm>
          <a:prstGeom prst="rect">
            <a:avLst/>
          </a:prstGeom>
          <a:noFill/>
          <a:ln/>
        </p:spPr>
        <p:txBody>
          <a:bodyPr wrap="square" rtlCol="0" anchor="ctr"/>
          <a:lstStyle/>
          <a:p>
            <a:pPr indent="0" marL="0">
              <a:buNone/>
            </a:pPr>
            <a:r>
              <a:rPr lang="en-US" sz="1700" b="1" dirty="0">
                <a:solidFill>
                  <a:srgbClr val="1E2761"/>
                </a:solidFill>
                <a:latin typeface="Arial" pitchFamily="34" charset="0"/>
                <a:ea typeface="Arial" pitchFamily="34" charset="-122"/>
                <a:cs typeface="Arial" pitchFamily="34" charset="-120"/>
              </a:rPr>
              <a:t>Update</a:t>
            </a:r>
            <a:endParaRPr lang="en-US" sz="1700" dirty="0"/>
          </a:p>
        </p:txBody>
      </p:sp>
      <p:sp>
        <p:nvSpPr>
          <p:cNvPr id="12" name="Text 8"/>
          <p:cNvSpPr/>
          <p:nvPr/>
        </p:nvSpPr>
        <p:spPr>
          <a:xfrm>
            <a:off x="2743200" y="2423160"/>
            <a:ext cx="5669280" cy="1051560"/>
          </a:xfrm>
          <a:prstGeom prst="rect">
            <a:avLst/>
          </a:prstGeom>
          <a:noFill/>
          <a:ln/>
        </p:spPr>
        <p:txBody>
          <a:bodyPr wrap="square" rtlCol="0" anchor="ctr"/>
          <a:lstStyle/>
          <a:p>
            <a:pPr indent="0" marL="0">
              <a:buNone/>
            </a:pPr>
            <a:r>
              <a:rPr lang="en-US" sz="1250" dirty="0">
                <a:solidFill>
                  <a:srgbClr val="2B2B2B"/>
                </a:solidFill>
                <a:latin typeface="Arial" pitchFamily="34" charset="0"/>
                <a:ea typeface="Arial" pitchFamily="34" charset="-122"/>
                <a:cs typeface="Arial" pitchFamily="34" charset="-120"/>
              </a:rPr>
              <a:t>Option 1: rebuild the whole Trie weekly, replace the old one (preferred)</a:t>
            </a:r>
            <a:endParaRPr lang="en-US" sz="1250" dirty="0"/>
          </a:p>
          <a:p>
            <a:pPr indent="0" marL="0">
              <a:buNone/>
            </a:pPr>
            <a:r>
              <a:rPr lang="en-US" sz="1250" dirty="0">
                <a:solidFill>
                  <a:srgbClr val="2B2B2B"/>
                </a:solidFill>
                <a:latin typeface="Arial" pitchFamily="34" charset="0"/>
                <a:ea typeface="Arial" pitchFamily="34" charset="-122"/>
                <a:cs typeface="Arial" pitchFamily="34" charset="-120"/>
              </a:rPr>
              <a:t>Option 2: update a single node + all its ancestors (slow; only for small Tries)</a:t>
            </a:r>
            <a:endParaRPr lang="en-US" sz="1250" dirty="0"/>
          </a:p>
        </p:txBody>
      </p:sp>
      <p:sp>
        <p:nvSpPr>
          <p:cNvPr id="13" name="Shape 9"/>
          <p:cNvSpPr/>
          <p:nvPr/>
        </p:nvSpPr>
        <p:spPr>
          <a:xfrm>
            <a:off x="502920" y="3794760"/>
            <a:ext cx="8138160" cy="1234440"/>
          </a:xfrm>
          <a:prstGeom prst="roundRect">
            <a:avLst>
              <a:gd name="adj" fmla="val 7407"/>
            </a:avLst>
          </a:prstGeom>
          <a:solidFill>
            <a:srgbClr val="EAF1FD"/>
          </a:solidFill>
          <a:ln/>
        </p:spPr>
      </p:sp>
      <p:sp>
        <p:nvSpPr>
          <p:cNvPr id="14" name="Shape 10"/>
          <p:cNvSpPr/>
          <p:nvPr/>
        </p:nvSpPr>
        <p:spPr>
          <a:xfrm>
            <a:off x="777240" y="4160520"/>
            <a:ext cx="502920" cy="502920"/>
          </a:xfrm>
          <a:prstGeom prst="ellipse">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902970" y="4286250"/>
            <a:ext cx="251460" cy="251460"/>
          </a:xfrm>
          <a:prstGeom prst="rect">
            <a:avLst/>
          </a:prstGeom>
        </p:spPr>
      </p:pic>
      <p:sp>
        <p:nvSpPr>
          <p:cNvPr id="16" name="Text 11"/>
          <p:cNvSpPr/>
          <p:nvPr/>
        </p:nvSpPr>
        <p:spPr>
          <a:xfrm>
            <a:off x="1463040" y="3794760"/>
            <a:ext cx="1188720" cy="1234440"/>
          </a:xfrm>
          <a:prstGeom prst="rect">
            <a:avLst/>
          </a:prstGeom>
          <a:noFill/>
          <a:ln/>
        </p:spPr>
        <p:txBody>
          <a:bodyPr wrap="square" rtlCol="0" anchor="ctr"/>
          <a:lstStyle/>
          <a:p>
            <a:pPr indent="0" marL="0">
              <a:buNone/>
            </a:pPr>
            <a:r>
              <a:rPr lang="en-US" sz="1700" b="1" dirty="0">
                <a:solidFill>
                  <a:srgbClr val="1E2761"/>
                </a:solidFill>
                <a:latin typeface="Arial" pitchFamily="34" charset="0"/>
                <a:ea typeface="Arial" pitchFamily="34" charset="-122"/>
                <a:cs typeface="Arial" pitchFamily="34" charset="-120"/>
              </a:rPr>
              <a:t>Delete</a:t>
            </a:r>
            <a:endParaRPr lang="en-US" sz="1700" dirty="0"/>
          </a:p>
        </p:txBody>
      </p:sp>
      <p:sp>
        <p:nvSpPr>
          <p:cNvPr id="17" name="Text 12"/>
          <p:cNvSpPr/>
          <p:nvPr/>
        </p:nvSpPr>
        <p:spPr>
          <a:xfrm>
            <a:off x="2743200" y="3886200"/>
            <a:ext cx="5669280" cy="1051560"/>
          </a:xfrm>
          <a:prstGeom prst="rect">
            <a:avLst/>
          </a:prstGeom>
          <a:noFill/>
          <a:ln/>
        </p:spPr>
        <p:txBody>
          <a:bodyPr wrap="square" rtlCol="0" anchor="ctr"/>
          <a:lstStyle/>
          <a:p>
            <a:pPr indent="0" marL="0">
              <a:buNone/>
            </a:pPr>
            <a:r>
              <a:rPr lang="en-US" sz="1250" dirty="0">
                <a:solidFill>
                  <a:srgbClr val="2B2B2B"/>
                </a:solidFill>
                <a:latin typeface="Arial" pitchFamily="34" charset="0"/>
                <a:ea typeface="Arial" pitchFamily="34" charset="-122"/>
                <a:cs typeface="Arial" pitchFamily="34" charset="-120"/>
              </a:rPr>
              <a:t>Hateful, violent, or explicit suggestions must be removed:</a:t>
            </a:r>
            <a:endParaRPr lang="en-US" sz="1250" dirty="0"/>
          </a:p>
          <a:p>
            <a:pPr indent="0" marL="0">
              <a:buNone/>
            </a:pPr>
            <a:r>
              <a:rPr lang="en-US" sz="1250" dirty="0">
                <a:solidFill>
                  <a:srgbClr val="2B2B2B"/>
                </a:solidFill>
                <a:latin typeface="Arial" pitchFamily="34" charset="0"/>
                <a:ea typeface="Arial" pitchFamily="34" charset="-122"/>
                <a:cs typeface="Arial" pitchFamily="34" charset="-120"/>
              </a:rPr>
              <a:t>add a filter layer in front of Trie Cache to block them, then physically delete from the DB before the next rebuild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3000" b="1" dirty="0">
                <a:solidFill>
                  <a:srgbClr val="1E2761"/>
                </a:solidFill>
                <a:latin typeface="Arial" pitchFamily="34" charset="0"/>
                <a:ea typeface="Arial" pitchFamily="34" charset="-122"/>
                <a:cs typeface="Arial" pitchFamily="34" charset="-120"/>
              </a:rPr>
              <a:t>Scaling Storage: Sharding</a:t>
            </a:r>
            <a:endParaRPr lang="en-US" sz="3000" dirty="0"/>
          </a:p>
        </p:txBody>
      </p:sp>
      <p:sp>
        <p:nvSpPr>
          <p:cNvPr id="3" name="Text 1"/>
          <p:cNvSpPr/>
          <p:nvPr/>
        </p:nvSpPr>
        <p:spPr>
          <a:xfrm>
            <a:off x="548640" y="1188720"/>
            <a:ext cx="4480560" cy="3474720"/>
          </a:xfrm>
          <a:prstGeom prst="rect">
            <a:avLst/>
          </a:prstGeom>
          <a:noFill/>
          <a:ln/>
        </p:spPr>
        <p:txBody>
          <a:bodyPr wrap="square" rtlCol="0" anchor="ctr"/>
          <a:lstStyle/>
          <a:p>
            <a:pPr indent="0" marL="0">
              <a:spcAft>
                <a:spcPts val="400"/>
              </a:spcAft>
              <a:buNone/>
            </a:pPr>
            <a:r>
              <a:rPr lang="en-US" sz="1400" b="1" dirty="0">
                <a:solidFill>
                  <a:srgbClr val="1E2761"/>
                </a:solidFill>
                <a:latin typeface="Arial" pitchFamily="34" charset="0"/>
                <a:ea typeface="Arial" pitchFamily="34" charset="-122"/>
                <a:cs typeface="Arial" pitchFamily="34" charset="-120"/>
              </a:rPr>
              <a:t>Simple approach: shard by first letter</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2 servers: a–m / n–z; up to 26; sub-shard further (aa–ag…)</a:t>
            </a:r>
            <a:endParaRPr lang="en-US" sz="1400" dirty="0"/>
          </a:p>
          <a:p>
            <a:pPr indent="0" marL="0">
              <a:spcAft>
                <a:spcPts val="400"/>
              </a:spcAft>
              <a:buNone/>
            </a:pPr>
            <a:endParaRPr lang="en-US" sz="1400" dirty="0"/>
          </a:p>
          <a:p>
            <a:pPr indent="0" marL="0">
              <a:spcAft>
                <a:spcPts val="400"/>
              </a:spcAft>
              <a:buNone/>
            </a:pPr>
            <a:r>
              <a:rPr lang="en-US" sz="1400" b="1" dirty="0">
                <a:solidFill>
                  <a:srgbClr val="4A6CF7"/>
                </a:solidFill>
                <a:latin typeface="Arial" pitchFamily="34" charset="0"/>
                <a:ea typeface="Arial" pitchFamily="34" charset="-122"/>
                <a:cs typeface="Arial" pitchFamily="34" charset="-120"/>
              </a:rPr>
              <a:t>Problem: uneven distribution</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Far more words start with 'c' than 'x' — load skews badly</a:t>
            </a:r>
            <a:endParaRPr lang="en-US" sz="1400" dirty="0"/>
          </a:p>
          <a:p>
            <a:pPr indent="0" marL="0">
              <a:spcAft>
                <a:spcPts val="400"/>
              </a:spcAft>
              <a:buNone/>
            </a:pPr>
            <a:endParaRPr lang="en-US" sz="1400" dirty="0"/>
          </a:p>
          <a:p>
            <a:pPr indent="0" marL="0">
              <a:spcAft>
                <a:spcPts val="400"/>
              </a:spcAft>
              <a:buNone/>
            </a:pPr>
            <a:r>
              <a:rPr lang="en-US" sz="1400" b="1" dirty="0">
                <a:solidFill>
                  <a:srgbClr val="1E2761"/>
                </a:solidFill>
                <a:latin typeface="Arial" pitchFamily="34" charset="0"/>
                <a:ea typeface="Arial" pitchFamily="34" charset="-122"/>
                <a:cs typeface="Arial" pitchFamily="34" charset="-120"/>
              </a:rPr>
              <a:t>Fix: smart sharding</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Analyze history; a shard-map manager decides where each row lives (e.g. 's' alone, 'u–z' together)</a:t>
            </a:r>
            <a:endParaRPr lang="en-US" sz="1400" dirty="0"/>
          </a:p>
        </p:txBody>
      </p:sp>
      <p:sp>
        <p:nvSpPr>
          <p:cNvPr id="4" name="Shape 2"/>
          <p:cNvSpPr/>
          <p:nvPr/>
        </p:nvSpPr>
        <p:spPr>
          <a:xfrm>
            <a:off x="5486400" y="1371600"/>
            <a:ext cx="2926080" cy="685800"/>
          </a:xfrm>
          <a:prstGeom prst="roundRect">
            <a:avLst>
              <a:gd name="adj" fmla="val 13333"/>
            </a:avLst>
          </a:prstGeom>
          <a:solidFill>
            <a:srgbClr val="1E2761"/>
          </a:solidFill>
          <a:ln/>
        </p:spPr>
      </p:sp>
      <p:sp>
        <p:nvSpPr>
          <p:cNvPr id="5" name="Text 3"/>
          <p:cNvSpPr/>
          <p:nvPr/>
        </p:nvSpPr>
        <p:spPr>
          <a:xfrm>
            <a:off x="5486400" y="1371600"/>
            <a:ext cx="29260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Web Servers</a:t>
            </a:r>
            <a:endParaRPr lang="en-US" sz="1400" dirty="0"/>
          </a:p>
        </p:txBody>
      </p:sp>
      <p:sp>
        <p:nvSpPr>
          <p:cNvPr id="6" name="Shape 4"/>
          <p:cNvSpPr/>
          <p:nvPr/>
        </p:nvSpPr>
        <p:spPr>
          <a:xfrm>
            <a:off x="6400800" y="2057400"/>
            <a:ext cx="-365760" cy="640080"/>
          </a:xfrm>
          <a:prstGeom prst="line">
            <a:avLst/>
          </a:prstGeom>
          <a:noFill/>
          <a:ln w="19050">
            <a:solidFill>
              <a:srgbClr val="6B7280"/>
            </a:solidFill>
            <a:prstDash val="solid"/>
            <a:tailEnd type="arrow"/>
          </a:ln>
        </p:spPr>
      </p:sp>
      <p:sp>
        <p:nvSpPr>
          <p:cNvPr id="7" name="Shape 5"/>
          <p:cNvSpPr/>
          <p:nvPr/>
        </p:nvSpPr>
        <p:spPr>
          <a:xfrm>
            <a:off x="7498080" y="2057400"/>
            <a:ext cx="365760" cy="640080"/>
          </a:xfrm>
          <a:prstGeom prst="line">
            <a:avLst/>
          </a:prstGeom>
          <a:noFill/>
          <a:ln w="19050">
            <a:solidFill>
              <a:srgbClr val="6B7280"/>
            </a:solidFill>
            <a:prstDash val="solid"/>
            <a:tailEnd type="arrow"/>
          </a:ln>
        </p:spPr>
      </p:sp>
      <p:sp>
        <p:nvSpPr>
          <p:cNvPr id="8" name="Shape 6"/>
          <p:cNvSpPr/>
          <p:nvPr/>
        </p:nvSpPr>
        <p:spPr>
          <a:xfrm>
            <a:off x="5120640" y="2697480"/>
            <a:ext cx="1874520" cy="640080"/>
          </a:xfrm>
          <a:prstGeom prst="roundRect">
            <a:avLst>
              <a:gd name="adj" fmla="val 14286"/>
            </a:avLst>
          </a:prstGeom>
          <a:solidFill>
            <a:srgbClr val="EAF1FD"/>
          </a:solidFill>
          <a:ln w="12700">
            <a:solidFill>
              <a:srgbClr val="1E2761"/>
            </a:solidFill>
            <a:prstDash val="solid"/>
          </a:ln>
        </p:spPr>
      </p:sp>
      <p:sp>
        <p:nvSpPr>
          <p:cNvPr id="9" name="Text 7"/>
          <p:cNvSpPr/>
          <p:nvPr/>
        </p:nvSpPr>
        <p:spPr>
          <a:xfrm>
            <a:off x="5120640" y="2697480"/>
            <a:ext cx="1874520" cy="640080"/>
          </a:xfrm>
          <a:prstGeom prst="rect">
            <a:avLst/>
          </a:prstGeom>
          <a:noFill/>
          <a:ln/>
        </p:spPr>
        <p:txBody>
          <a:bodyPr wrap="square" lIns="0" tIns="0" rIns="0" bIns="0" rtlCol="0" anchor="ctr"/>
          <a:lstStyle/>
          <a:p>
            <a:pPr algn="ctr" indent="0" marL="0">
              <a:buNone/>
            </a:pPr>
            <a:r>
              <a:rPr lang="en-US" sz="1100" b="1" dirty="0">
                <a:solidFill>
                  <a:srgbClr val="1E2761"/>
                </a:solidFill>
                <a:latin typeface="Arial" pitchFamily="34" charset="0"/>
                <a:ea typeface="Arial" pitchFamily="34" charset="-122"/>
                <a:cs typeface="Arial" pitchFamily="34" charset="-120"/>
              </a:rPr>
              <a:t>Shard-map manager</a:t>
            </a:r>
            <a:endParaRPr lang="en-US" sz="1100" dirty="0"/>
          </a:p>
        </p:txBody>
      </p:sp>
      <p:sp>
        <p:nvSpPr>
          <p:cNvPr id="10" name="Shape 8"/>
          <p:cNvSpPr/>
          <p:nvPr/>
        </p:nvSpPr>
        <p:spPr>
          <a:xfrm>
            <a:off x="7178040" y="2697480"/>
            <a:ext cx="1463040" cy="640080"/>
          </a:xfrm>
          <a:prstGeom prst="roundRect">
            <a:avLst>
              <a:gd name="adj" fmla="val 14286"/>
            </a:avLst>
          </a:prstGeom>
          <a:solidFill>
            <a:srgbClr val="EAF1FD"/>
          </a:solidFill>
          <a:ln w="12700">
            <a:solidFill>
              <a:srgbClr val="1E2761"/>
            </a:solidFill>
            <a:prstDash val="solid"/>
          </a:ln>
        </p:spPr>
      </p:sp>
      <p:sp>
        <p:nvSpPr>
          <p:cNvPr id="11" name="Text 9"/>
          <p:cNvSpPr/>
          <p:nvPr/>
        </p:nvSpPr>
        <p:spPr>
          <a:xfrm>
            <a:off x="7178040" y="2697480"/>
            <a:ext cx="1463040" cy="640080"/>
          </a:xfrm>
          <a:prstGeom prst="rect">
            <a:avLst/>
          </a:prstGeom>
          <a:noFill/>
          <a:ln/>
        </p:spPr>
        <p:txBody>
          <a:bodyPr wrap="square" lIns="0" tIns="0" rIns="0" bIns="0" rtlCol="0" anchor="ctr"/>
          <a:lstStyle/>
          <a:p>
            <a:pPr algn="ctr" indent="0" marL="0">
              <a:buNone/>
            </a:pPr>
            <a:r>
              <a:rPr lang="en-US" sz="1200" b="1" dirty="0">
                <a:solidFill>
                  <a:srgbClr val="1E2761"/>
                </a:solidFill>
                <a:latin typeface="Arial" pitchFamily="34" charset="0"/>
                <a:ea typeface="Arial" pitchFamily="34" charset="-122"/>
                <a:cs typeface="Arial" pitchFamily="34" charset="-120"/>
              </a:rPr>
              <a:t>Shards 1…N</a:t>
            </a:r>
            <a:endParaRPr lang="en-US" sz="1200" dirty="0"/>
          </a:p>
        </p:txBody>
      </p:sp>
      <p:sp>
        <p:nvSpPr>
          <p:cNvPr id="12" name="Text 10"/>
          <p:cNvSpPr/>
          <p:nvPr/>
        </p:nvSpPr>
        <p:spPr>
          <a:xfrm>
            <a:off x="5120640" y="3520440"/>
            <a:ext cx="3657600" cy="365760"/>
          </a:xfrm>
          <a:prstGeom prst="rect">
            <a:avLst/>
          </a:prstGeom>
          <a:noFill/>
          <a:ln/>
        </p:spPr>
        <p:txBody>
          <a:bodyPr wrap="square" rtlCol="0" anchor="ctr"/>
          <a:lstStyle/>
          <a:p>
            <a:pPr algn="ctr" indent="0" marL="0">
              <a:buNone/>
            </a:pPr>
            <a:r>
              <a:rPr lang="en-US" sz="1150" i="1" dirty="0">
                <a:solidFill>
                  <a:srgbClr val="6B7280"/>
                </a:solidFill>
                <a:latin typeface="Arial" pitchFamily="34" charset="0"/>
                <a:ea typeface="Arial" pitchFamily="34" charset="-122"/>
                <a:cs typeface="Arial" pitchFamily="34" charset="-120"/>
              </a:rPr>
              <a:t>① Which shard?   ② Fetch data from shard</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Step 4 — Wrap-Up &amp; Follow-Ups</a:t>
            </a:r>
            <a:endParaRPr lang="en-US" sz="3000" dirty="0"/>
          </a:p>
        </p:txBody>
      </p:sp>
      <p:sp>
        <p:nvSpPr>
          <p:cNvPr id="3" name="Shape 1"/>
          <p:cNvSpPr/>
          <p:nvPr/>
        </p:nvSpPr>
        <p:spPr>
          <a:xfrm>
            <a:off x="502920" y="1143000"/>
            <a:ext cx="8138160" cy="1005840"/>
          </a:xfrm>
          <a:prstGeom prst="roundRect">
            <a:avLst>
              <a:gd name="adj" fmla="val 9091"/>
            </a:avLst>
          </a:prstGeom>
          <a:solidFill>
            <a:srgbClr val="2A3575"/>
          </a:solidFill>
          <a:ln/>
        </p:spPr>
      </p:sp>
      <p:sp>
        <p:nvSpPr>
          <p:cNvPr id="4" name="Shape 2"/>
          <p:cNvSpPr/>
          <p:nvPr/>
        </p:nvSpPr>
        <p:spPr>
          <a:xfrm>
            <a:off x="777240" y="1394460"/>
            <a:ext cx="502920" cy="502920"/>
          </a:xfrm>
          <a:prstGeom prst="ellipse">
            <a:avLst/>
          </a:prstGeom>
          <a:solidFill>
            <a:srgbClr val="FFFFFF"/>
          </a:solidFill>
          <a:ln/>
        </p:spPr>
      </p:sp>
      <p:pic>
        <p:nvPicPr>
          <p:cNvPr id="5" name="Image 0" descr="preencoded.png">    </p:cNvPr>
          <p:cNvPicPr>
            <a:picLocks noChangeAspect="1"/>
          </p:cNvPicPr>
          <p:nvPr/>
        </p:nvPicPr>
        <p:blipFill>
          <a:blip r:embed="rId1"/>
          <a:stretch>
            <a:fillRect/>
          </a:stretch>
        </p:blipFill>
        <p:spPr>
          <a:xfrm>
            <a:off x="902970" y="1520190"/>
            <a:ext cx="251460" cy="251460"/>
          </a:xfrm>
          <a:prstGeom prst="rect">
            <a:avLst/>
          </a:prstGeom>
        </p:spPr>
      </p:pic>
      <p:sp>
        <p:nvSpPr>
          <p:cNvPr id="6" name="Text 3"/>
          <p:cNvSpPr/>
          <p:nvPr/>
        </p:nvSpPr>
        <p:spPr>
          <a:xfrm>
            <a:off x="1463040" y="1143000"/>
            <a:ext cx="2286000" cy="10058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Multi-language support?</a:t>
            </a:r>
            <a:endParaRPr lang="en-US" sz="1500" dirty="0"/>
          </a:p>
        </p:txBody>
      </p:sp>
      <p:sp>
        <p:nvSpPr>
          <p:cNvPr id="7" name="Text 4"/>
          <p:cNvSpPr/>
          <p:nvPr/>
        </p:nvSpPr>
        <p:spPr>
          <a:xfrm>
            <a:off x="3840480" y="1234440"/>
            <a:ext cx="4572000" cy="822960"/>
          </a:xfrm>
          <a:prstGeom prst="rect">
            <a:avLst/>
          </a:prstGeom>
          <a:noFill/>
          <a:ln/>
        </p:spPr>
        <p:txBody>
          <a:bodyPr wrap="square" rtlCol="0" anchor="ctr"/>
          <a:lstStyle/>
          <a:p>
            <a:pPr indent="0" marL="0">
              <a:buNone/>
            </a:pPr>
            <a:r>
              <a:rPr lang="en-US" sz="1200" dirty="0">
                <a:solidFill>
                  <a:srgbClr val="CADCFC"/>
                </a:solidFill>
                <a:latin typeface="Arial" pitchFamily="34" charset="0"/>
                <a:ea typeface="Arial" pitchFamily="34" charset="-122"/>
                <a:cs typeface="Arial" pitchFamily="34" charset="-120"/>
              </a:rPr>
              <a:t>Store Unicode characters in Trie nodes to cover all writing systems</a:t>
            </a:r>
            <a:endParaRPr lang="en-US" sz="1200" dirty="0"/>
          </a:p>
        </p:txBody>
      </p:sp>
      <p:sp>
        <p:nvSpPr>
          <p:cNvPr id="8" name="Shape 5"/>
          <p:cNvSpPr/>
          <p:nvPr/>
        </p:nvSpPr>
        <p:spPr>
          <a:xfrm>
            <a:off x="502920" y="2350008"/>
            <a:ext cx="8138160" cy="1005840"/>
          </a:xfrm>
          <a:prstGeom prst="roundRect">
            <a:avLst>
              <a:gd name="adj" fmla="val 9091"/>
            </a:avLst>
          </a:prstGeom>
          <a:solidFill>
            <a:srgbClr val="2A3575"/>
          </a:solidFill>
          <a:ln/>
        </p:spPr>
      </p:sp>
      <p:sp>
        <p:nvSpPr>
          <p:cNvPr id="9" name="Shape 6"/>
          <p:cNvSpPr/>
          <p:nvPr/>
        </p:nvSpPr>
        <p:spPr>
          <a:xfrm>
            <a:off x="777240" y="2601468"/>
            <a:ext cx="502920" cy="502920"/>
          </a:xfrm>
          <a:prstGeom prst="ellipse">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902970" y="2727198"/>
            <a:ext cx="251460" cy="251460"/>
          </a:xfrm>
          <a:prstGeom prst="rect">
            <a:avLst/>
          </a:prstGeom>
        </p:spPr>
      </p:pic>
      <p:sp>
        <p:nvSpPr>
          <p:cNvPr id="11" name="Text 7"/>
          <p:cNvSpPr/>
          <p:nvPr/>
        </p:nvSpPr>
        <p:spPr>
          <a:xfrm>
            <a:off x="1463040" y="2350008"/>
            <a:ext cx="2286000" cy="10058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Queries differ by country?</a:t>
            </a:r>
            <a:endParaRPr lang="en-US" sz="1500" dirty="0"/>
          </a:p>
        </p:txBody>
      </p:sp>
      <p:sp>
        <p:nvSpPr>
          <p:cNvPr id="12" name="Text 8"/>
          <p:cNvSpPr/>
          <p:nvPr/>
        </p:nvSpPr>
        <p:spPr>
          <a:xfrm>
            <a:off x="3840480" y="2441448"/>
            <a:ext cx="4572000" cy="822960"/>
          </a:xfrm>
          <a:prstGeom prst="rect">
            <a:avLst/>
          </a:prstGeom>
          <a:noFill/>
          <a:ln/>
        </p:spPr>
        <p:txBody>
          <a:bodyPr wrap="square" rtlCol="0" anchor="ctr"/>
          <a:lstStyle/>
          <a:p>
            <a:pPr indent="0" marL="0">
              <a:buNone/>
            </a:pPr>
            <a:r>
              <a:rPr lang="en-US" sz="1200" dirty="0">
                <a:solidFill>
                  <a:srgbClr val="CADCFC"/>
                </a:solidFill>
                <a:latin typeface="Arial" pitchFamily="34" charset="0"/>
                <a:ea typeface="Arial" pitchFamily="34" charset="-122"/>
                <a:cs typeface="Arial" pitchFamily="34" charset="-120"/>
              </a:rPr>
              <a:t>Build a separate Trie per country; store in a CDN to cut latency</a:t>
            </a:r>
            <a:endParaRPr lang="en-US" sz="1200" dirty="0"/>
          </a:p>
        </p:txBody>
      </p:sp>
      <p:sp>
        <p:nvSpPr>
          <p:cNvPr id="13" name="Shape 9"/>
          <p:cNvSpPr/>
          <p:nvPr/>
        </p:nvSpPr>
        <p:spPr>
          <a:xfrm>
            <a:off x="502920" y="3557016"/>
            <a:ext cx="8138160" cy="1005840"/>
          </a:xfrm>
          <a:prstGeom prst="roundRect">
            <a:avLst>
              <a:gd name="adj" fmla="val 9091"/>
            </a:avLst>
          </a:prstGeom>
          <a:solidFill>
            <a:srgbClr val="2A3575"/>
          </a:solidFill>
          <a:ln/>
        </p:spPr>
      </p:sp>
      <p:sp>
        <p:nvSpPr>
          <p:cNvPr id="14" name="Shape 10"/>
          <p:cNvSpPr/>
          <p:nvPr/>
        </p:nvSpPr>
        <p:spPr>
          <a:xfrm>
            <a:off x="777240" y="3808476"/>
            <a:ext cx="502920" cy="502920"/>
          </a:xfrm>
          <a:prstGeom prst="ellipse">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902970" y="3934206"/>
            <a:ext cx="251460" cy="251460"/>
          </a:xfrm>
          <a:prstGeom prst="rect">
            <a:avLst/>
          </a:prstGeom>
        </p:spPr>
      </p:pic>
      <p:sp>
        <p:nvSpPr>
          <p:cNvPr id="16" name="Text 11"/>
          <p:cNvSpPr/>
          <p:nvPr/>
        </p:nvSpPr>
        <p:spPr>
          <a:xfrm>
            <a:off x="1463040" y="3557016"/>
            <a:ext cx="2286000" cy="10058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Trending (real-time) queries?</a:t>
            </a:r>
            <a:endParaRPr lang="en-US" sz="1500" dirty="0"/>
          </a:p>
        </p:txBody>
      </p:sp>
      <p:sp>
        <p:nvSpPr>
          <p:cNvPr id="17" name="Text 12"/>
          <p:cNvSpPr/>
          <p:nvPr/>
        </p:nvSpPr>
        <p:spPr>
          <a:xfrm>
            <a:off x="3840480" y="3648456"/>
            <a:ext cx="4572000" cy="822960"/>
          </a:xfrm>
          <a:prstGeom prst="rect">
            <a:avLst/>
          </a:prstGeom>
          <a:noFill/>
          <a:ln/>
        </p:spPr>
        <p:txBody>
          <a:bodyPr wrap="square" rtlCol="0" anchor="ctr"/>
          <a:lstStyle/>
          <a:p>
            <a:pPr indent="0" marL="0">
              <a:buNone/>
            </a:pPr>
            <a:r>
              <a:rPr lang="en-US" sz="1200" dirty="0">
                <a:solidFill>
                  <a:srgbClr val="CADCFC"/>
                </a:solidFill>
                <a:latin typeface="Arial" pitchFamily="34" charset="0"/>
                <a:ea typeface="Arial" pitchFamily="34" charset="-122"/>
                <a:cs typeface="Arial" pitchFamily="34" charset="-120"/>
              </a:rPr>
              <a:t>Weekly rebuilds can't keep up with viral spikes: shrink the working set via sharding, reweight ranking toward recent queries, use stream processing (Kafka / Spark Streaming)</a:t>
            </a:r>
            <a:endParaRPr lang="en-US" sz="1200" dirty="0"/>
          </a:p>
        </p:txBody>
      </p:sp>
      <p:sp>
        <p:nvSpPr>
          <p:cNvPr id="18" name="Text 13"/>
          <p:cNvSpPr/>
          <p:nvPr/>
        </p:nvSpPr>
        <p:spPr>
          <a:xfrm>
            <a:off x="457200" y="4736592"/>
            <a:ext cx="8229600" cy="320040"/>
          </a:xfrm>
          <a:prstGeom prst="rect">
            <a:avLst/>
          </a:prstGeom>
          <a:noFill/>
          <a:ln/>
        </p:spPr>
        <p:txBody>
          <a:bodyPr wrap="square" rtlCol="0" anchor="ctr"/>
          <a:lstStyle/>
          <a:p>
            <a:pPr algn="ctr" indent="0" marL="0">
              <a:buNone/>
            </a:pPr>
            <a:r>
              <a:rPr lang="en-US" sz="1250" i="1" dirty="0">
                <a:solidFill>
                  <a:srgbClr val="CADCFC"/>
                </a:solidFill>
                <a:latin typeface="Arial" pitchFamily="34" charset="0"/>
                <a:ea typeface="Arial" pitchFamily="34" charset="-122"/>
                <a:cs typeface="Arial" pitchFamily="34" charset="-120"/>
              </a:rPr>
              <a:t>Remember: Trie + per-node Top K cache = O(1) queries;  offline batch rebuild + cache = scalability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 Search Autocomplete System</dc:title>
  <dc:subject>PptxGenJS Presentation</dc:subject>
  <dc:creator>PptxGenJS</dc:creator>
  <cp:lastModifiedBy>PptxGenJS</cp:lastModifiedBy>
  <cp:revision>1</cp:revision>
  <dcterms:created xsi:type="dcterms:W3CDTF">2026-06-12T09:58:53Z</dcterms:created>
  <dcterms:modified xsi:type="dcterms:W3CDTF">2026-06-12T09:58:53Z</dcterms:modified>
</cp:coreProperties>
</file>